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CoE Automation and Tools Squad (CATS)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206240" cy="777240"/>
          </a:xfrm>
          <a:prstGeom prst="rect">
            <a:avLst/>
          </a:prstGeom>
          <a:solidFill>
            <a:srgbClr val="16A34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601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868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3,518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2834640" y="960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Saved Till Now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17720" y="822960"/>
            <a:ext cx="4206240" cy="777240"/>
          </a:xfrm>
          <a:prstGeom prst="rect">
            <a:avLst/>
          </a:prstGeom>
          <a:solidFill>
            <a:srgbClr val="EA580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96012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03520" y="868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400800" y="960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Delivered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0040" y="1719072"/>
            <a:ext cx="50749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20040" y="1719072"/>
            <a:ext cx="45720" cy="65836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55648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5800" y="17556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CATS Objective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502920" y="1993392"/>
            <a:ext cx="54864" cy="5486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2"/>
          <p:cNvSpPr/>
          <p:nvPr/>
        </p:nvSpPr>
        <p:spPr>
          <a:xfrm>
            <a:off x="621792" y="196596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new utilities and tools to enhance automation capabilities</a:t>
            </a:r>
            <a:endParaRPr lang="en-US" sz="750" dirty="0"/>
          </a:p>
        </p:txBody>
      </p:sp>
      <p:sp>
        <p:nvSpPr>
          <p:cNvPr id="18" name="Shape 13"/>
          <p:cNvSpPr/>
          <p:nvPr/>
        </p:nvSpPr>
        <p:spPr>
          <a:xfrm>
            <a:off x="502920" y="2139696"/>
            <a:ext cx="54864" cy="5486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4"/>
          <p:cNvSpPr/>
          <p:nvPr/>
        </p:nvSpPr>
        <p:spPr>
          <a:xfrm>
            <a:off x="621792" y="2112264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standardization across our automation frameworks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502920" y="2286000"/>
            <a:ext cx="54864" cy="5486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1" name="Text 16"/>
          <p:cNvSpPr/>
          <p:nvPr/>
        </p:nvSpPr>
        <p:spPr>
          <a:xfrm>
            <a:off x="621792" y="2258568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 other teams with troubleshooting and adopting new tools/tech stack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320040" y="2468880"/>
            <a:ext cx="50749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320040" y="2468880"/>
            <a:ext cx="45720" cy="160020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05456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5800" y="25054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Accomplishments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02920" y="2747772"/>
            <a:ext cx="64008" cy="640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7" name="Text 21"/>
          <p:cNvSpPr/>
          <p:nvPr/>
        </p:nvSpPr>
        <p:spPr>
          <a:xfrm>
            <a:off x="621792" y="2724912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Code Review Using GitHub Copilot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AI-powered code analysis</a:t>
            </a:r>
            <a:endParaRPr lang="en-US" sz="700" dirty="0"/>
          </a:p>
        </p:txBody>
      </p:sp>
      <p:sp>
        <p:nvSpPr>
          <p:cNvPr id="28" name="Shape 22"/>
          <p:cNvSpPr/>
          <p:nvPr/>
        </p:nvSpPr>
        <p:spPr>
          <a:xfrm>
            <a:off x="502920" y="2967228"/>
            <a:ext cx="64008" cy="640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9" name="Text 23"/>
          <p:cNvSpPr/>
          <p:nvPr/>
        </p:nvSpPr>
        <p:spPr>
          <a:xfrm>
            <a:off x="621792" y="2944368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Test Tool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Manual testing artifacts in Excel, Word, PDFs</a:t>
            </a:r>
            <a:endParaRPr lang="en-US" sz="700" dirty="0"/>
          </a:p>
        </p:txBody>
      </p:sp>
      <p:sp>
        <p:nvSpPr>
          <p:cNvPr id="30" name="Shape 24"/>
          <p:cNvSpPr/>
          <p:nvPr/>
        </p:nvSpPr>
        <p:spPr>
          <a:xfrm>
            <a:off x="502920" y="3186684"/>
            <a:ext cx="64008" cy="640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1" name="Text 25"/>
          <p:cNvSpPr/>
          <p:nvPr/>
        </p:nvSpPr>
        <p:spPr>
          <a:xfrm>
            <a:off x="621792" y="3163824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Comparison Tool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ISO 20022 XML to readable format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502920" y="3406140"/>
            <a:ext cx="64008" cy="640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3" name="Text 27"/>
          <p:cNvSpPr/>
          <p:nvPr/>
        </p:nvSpPr>
        <p:spPr>
          <a:xfrm>
            <a:off x="621792" y="338328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EIW Downstream Tool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Validates all 52 transaction logics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502920" y="3625596"/>
            <a:ext cx="64008" cy="640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5" name="Text 29"/>
          <p:cNvSpPr/>
          <p:nvPr/>
        </p:nvSpPr>
        <p:spPr>
          <a:xfrm>
            <a:off x="621792" y="3602736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Artifact Generation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Test evidence with step definitions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502920" y="3845052"/>
            <a:ext cx="64008" cy="640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7" name="Text 31"/>
          <p:cNvSpPr/>
          <p:nvPr/>
        </p:nvSpPr>
        <p:spPr>
          <a:xfrm>
            <a:off x="621792" y="3822192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Access Report Generation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Downloads accesses for TMs at SSO level</a:t>
            </a:r>
            <a:endParaRPr lang="en-US" sz="700" dirty="0"/>
          </a:p>
        </p:txBody>
      </p:sp>
      <p:sp>
        <p:nvSpPr>
          <p:cNvPr id="38" name="Shape 32"/>
          <p:cNvSpPr/>
          <p:nvPr/>
        </p:nvSpPr>
        <p:spPr>
          <a:xfrm>
            <a:off x="320040" y="4160520"/>
            <a:ext cx="50749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320040" y="4160520"/>
            <a:ext cx="45720" cy="777240"/>
          </a:xfrm>
          <a:prstGeom prst="rect">
            <a:avLst/>
          </a:prstGeom>
          <a:solidFill>
            <a:srgbClr val="EA580C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197096"/>
            <a:ext cx="182880" cy="18288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85800" y="41970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Upcoming Deliverables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502920" y="4416552"/>
            <a:ext cx="118872" cy="118872"/>
          </a:xfrm>
          <a:prstGeom prst="ellipse">
            <a:avLst/>
          </a:prstGeom>
          <a:solidFill>
            <a:srgbClr val="FED7AA"/>
          </a:solidFill>
          <a:ln/>
        </p:spPr>
      </p:sp>
      <p:sp>
        <p:nvSpPr>
          <p:cNvPr id="43" name="Text 36"/>
          <p:cNvSpPr/>
          <p:nvPr/>
        </p:nvSpPr>
        <p:spPr>
          <a:xfrm>
            <a:off x="502920" y="4416552"/>
            <a:ext cx="11887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" dirty="0"/>
          </a:p>
        </p:txBody>
      </p:sp>
      <p:sp>
        <p:nvSpPr>
          <p:cNvPr id="44" name="Text 37"/>
          <p:cNvSpPr/>
          <p:nvPr/>
        </p:nvSpPr>
        <p:spPr>
          <a:xfrm>
            <a:off x="658368" y="4416552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COE Pulse</a:t>
            </a:r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Quality metrics dashboard</a:t>
            </a:r>
            <a:endParaRPr lang="en-US" sz="650" dirty="0"/>
          </a:p>
        </p:txBody>
      </p:sp>
      <p:sp>
        <p:nvSpPr>
          <p:cNvPr id="45" name="Shape 38"/>
          <p:cNvSpPr/>
          <p:nvPr/>
        </p:nvSpPr>
        <p:spPr>
          <a:xfrm>
            <a:off x="502920" y="4581144"/>
            <a:ext cx="118872" cy="118872"/>
          </a:xfrm>
          <a:prstGeom prst="ellipse">
            <a:avLst/>
          </a:prstGeom>
          <a:solidFill>
            <a:srgbClr val="FED7AA"/>
          </a:solidFill>
          <a:ln/>
        </p:spPr>
      </p:sp>
      <p:sp>
        <p:nvSpPr>
          <p:cNvPr id="46" name="Text 39"/>
          <p:cNvSpPr/>
          <p:nvPr/>
        </p:nvSpPr>
        <p:spPr>
          <a:xfrm>
            <a:off x="502920" y="4581144"/>
            <a:ext cx="11887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" dirty="0"/>
          </a:p>
        </p:txBody>
      </p:sp>
      <p:sp>
        <p:nvSpPr>
          <p:cNvPr id="47" name="Text 40"/>
          <p:cNvSpPr/>
          <p:nvPr/>
        </p:nvSpPr>
        <p:spPr>
          <a:xfrm>
            <a:off x="658368" y="458114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Metrics</a:t>
            </a:r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Code review metrics</a:t>
            </a:r>
            <a:endParaRPr lang="en-US" sz="650" dirty="0"/>
          </a:p>
        </p:txBody>
      </p:sp>
      <p:sp>
        <p:nvSpPr>
          <p:cNvPr id="48" name="Shape 41"/>
          <p:cNvSpPr/>
          <p:nvPr/>
        </p:nvSpPr>
        <p:spPr>
          <a:xfrm>
            <a:off x="3063240" y="4416552"/>
            <a:ext cx="118872" cy="118872"/>
          </a:xfrm>
          <a:prstGeom prst="ellipse">
            <a:avLst/>
          </a:prstGeom>
          <a:solidFill>
            <a:srgbClr val="FED7AA"/>
          </a:solidFill>
          <a:ln/>
        </p:spPr>
      </p:sp>
      <p:sp>
        <p:nvSpPr>
          <p:cNvPr id="49" name="Text 42"/>
          <p:cNvSpPr/>
          <p:nvPr/>
        </p:nvSpPr>
        <p:spPr>
          <a:xfrm>
            <a:off x="3063240" y="4416552"/>
            <a:ext cx="11887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00" dirty="0"/>
          </a:p>
        </p:txBody>
      </p:sp>
      <p:sp>
        <p:nvSpPr>
          <p:cNvPr id="50" name="Text 43"/>
          <p:cNvSpPr/>
          <p:nvPr/>
        </p:nvSpPr>
        <p:spPr>
          <a:xfrm>
            <a:off x="3218688" y="4416552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Prediction</a:t>
            </a:r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AI-based prediction</a:t>
            </a:r>
            <a:endParaRPr lang="en-US" sz="650" dirty="0"/>
          </a:p>
        </p:txBody>
      </p:sp>
      <p:sp>
        <p:nvSpPr>
          <p:cNvPr id="51" name="Shape 44"/>
          <p:cNvSpPr/>
          <p:nvPr/>
        </p:nvSpPr>
        <p:spPr>
          <a:xfrm>
            <a:off x="3063240" y="4581144"/>
            <a:ext cx="118872" cy="118872"/>
          </a:xfrm>
          <a:prstGeom prst="ellipse">
            <a:avLst/>
          </a:prstGeom>
          <a:solidFill>
            <a:srgbClr val="FED7AA"/>
          </a:solidFill>
          <a:ln/>
        </p:spPr>
      </p:sp>
      <p:sp>
        <p:nvSpPr>
          <p:cNvPr id="52" name="Text 45"/>
          <p:cNvSpPr/>
          <p:nvPr/>
        </p:nvSpPr>
        <p:spPr>
          <a:xfrm>
            <a:off x="3063240" y="4581144"/>
            <a:ext cx="11887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" dirty="0"/>
          </a:p>
        </p:txBody>
      </p:sp>
      <p:sp>
        <p:nvSpPr>
          <p:cNvPr id="53" name="Text 46"/>
          <p:cNvSpPr/>
          <p:nvPr/>
        </p:nvSpPr>
        <p:spPr>
          <a:xfrm>
            <a:off x="3218688" y="458114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Comparison Tool</a:t>
            </a:r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Visual diff detection</a:t>
            </a:r>
            <a:endParaRPr lang="en-US" sz="650" dirty="0"/>
          </a:p>
        </p:txBody>
      </p:sp>
      <p:sp>
        <p:nvSpPr>
          <p:cNvPr id="54" name="Shape 47"/>
          <p:cNvSpPr/>
          <p:nvPr/>
        </p:nvSpPr>
        <p:spPr>
          <a:xfrm>
            <a:off x="5486400" y="1719072"/>
            <a:ext cx="3337560" cy="32186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55" name="Shape 48"/>
          <p:cNvSpPr/>
          <p:nvPr/>
        </p:nvSpPr>
        <p:spPr>
          <a:xfrm>
            <a:off x="5486400" y="1719072"/>
            <a:ext cx="3337560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6" name="Text 49"/>
          <p:cNvSpPr/>
          <p:nvPr/>
        </p:nvSpPr>
        <p:spPr>
          <a:xfrm>
            <a:off x="5486400" y="173736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Status &amp; Time Savings</a:t>
            </a:r>
            <a:endParaRPr lang="en-US" sz="900" dirty="0"/>
          </a:p>
        </p:txBody>
      </p:sp>
      <p:sp>
        <p:nvSpPr>
          <p:cNvPr id="57" name="Shape 50"/>
          <p:cNvSpPr/>
          <p:nvPr/>
        </p:nvSpPr>
        <p:spPr>
          <a:xfrm>
            <a:off x="5486400" y="1975104"/>
            <a:ext cx="3337560" cy="16459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8" name="Text 51"/>
          <p:cNvSpPr/>
          <p:nvPr/>
        </p:nvSpPr>
        <p:spPr>
          <a:xfrm>
            <a:off x="5559552" y="197510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600" dirty="0"/>
          </a:p>
        </p:txBody>
      </p:sp>
      <p:sp>
        <p:nvSpPr>
          <p:cNvPr id="59" name="Text 52"/>
          <p:cNvSpPr/>
          <p:nvPr/>
        </p:nvSpPr>
        <p:spPr>
          <a:xfrm>
            <a:off x="6949440" y="197510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600" dirty="0"/>
          </a:p>
        </p:txBody>
      </p:sp>
      <p:sp>
        <p:nvSpPr>
          <p:cNvPr id="60" name="Text 53"/>
          <p:cNvSpPr/>
          <p:nvPr/>
        </p:nvSpPr>
        <p:spPr>
          <a:xfrm>
            <a:off x="7543800" y="19751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 Saved</a:t>
            </a:r>
            <a:endParaRPr lang="en-US" sz="600" dirty="0"/>
          </a:p>
        </p:txBody>
      </p:sp>
      <p:sp>
        <p:nvSpPr>
          <p:cNvPr id="61" name="Shape 54"/>
          <p:cNvSpPr/>
          <p:nvPr/>
        </p:nvSpPr>
        <p:spPr>
          <a:xfrm>
            <a:off x="5486400" y="2157984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2" name="Text 55"/>
          <p:cNvSpPr/>
          <p:nvPr/>
        </p:nvSpPr>
        <p:spPr>
          <a:xfrm>
            <a:off x="5559552" y="2157984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Mgmt - ITRD</a:t>
            </a:r>
            <a:endParaRPr lang="en-US" sz="600" dirty="0"/>
          </a:p>
        </p:txBody>
      </p:sp>
      <p:sp>
        <p:nvSpPr>
          <p:cNvPr id="63" name="Shape 56"/>
          <p:cNvSpPr/>
          <p:nvPr/>
        </p:nvSpPr>
        <p:spPr>
          <a:xfrm>
            <a:off x="6949440" y="2203704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4" name="Shape 57"/>
          <p:cNvSpPr/>
          <p:nvPr/>
        </p:nvSpPr>
        <p:spPr>
          <a:xfrm>
            <a:off x="6949440" y="2203704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5" name="Shape 58"/>
          <p:cNvSpPr/>
          <p:nvPr/>
        </p:nvSpPr>
        <p:spPr>
          <a:xfrm>
            <a:off x="7571232" y="2203704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66" name="Shape 59"/>
          <p:cNvSpPr/>
          <p:nvPr/>
        </p:nvSpPr>
        <p:spPr>
          <a:xfrm>
            <a:off x="7571232" y="2203704"/>
            <a:ext cx="7315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7" name="Text 60"/>
          <p:cNvSpPr/>
          <p:nvPr/>
        </p:nvSpPr>
        <p:spPr>
          <a:xfrm>
            <a:off x="8321040" y="215798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3000h</a:t>
            </a:r>
            <a:endParaRPr lang="en-US" sz="550" dirty="0"/>
          </a:p>
        </p:txBody>
      </p:sp>
      <p:sp>
        <p:nvSpPr>
          <p:cNvPr id="68" name="Text 61"/>
          <p:cNvSpPr/>
          <p:nvPr/>
        </p:nvSpPr>
        <p:spPr>
          <a:xfrm>
            <a:off x="5559552" y="2313432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 Clean Up Tool</a:t>
            </a:r>
            <a:endParaRPr lang="en-US" sz="600" dirty="0"/>
          </a:p>
        </p:txBody>
      </p:sp>
      <p:sp>
        <p:nvSpPr>
          <p:cNvPr id="69" name="Shape 62"/>
          <p:cNvSpPr/>
          <p:nvPr/>
        </p:nvSpPr>
        <p:spPr>
          <a:xfrm>
            <a:off x="6949440" y="2359152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0" name="Shape 63"/>
          <p:cNvSpPr/>
          <p:nvPr/>
        </p:nvSpPr>
        <p:spPr>
          <a:xfrm>
            <a:off x="6949440" y="2359152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1" name="Shape 64"/>
          <p:cNvSpPr/>
          <p:nvPr/>
        </p:nvSpPr>
        <p:spPr>
          <a:xfrm>
            <a:off x="7571232" y="2359152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72" name="Shape 65"/>
          <p:cNvSpPr/>
          <p:nvPr/>
        </p:nvSpPr>
        <p:spPr>
          <a:xfrm>
            <a:off x="7571232" y="2359152"/>
            <a:ext cx="50719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3" name="Text 66"/>
          <p:cNvSpPr/>
          <p:nvPr/>
        </p:nvSpPr>
        <p:spPr>
          <a:xfrm>
            <a:off x="8321040" y="2313432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208h</a:t>
            </a:r>
            <a:endParaRPr lang="en-US" sz="550" dirty="0"/>
          </a:p>
        </p:txBody>
      </p:sp>
      <p:sp>
        <p:nvSpPr>
          <p:cNvPr id="74" name="Shape 67"/>
          <p:cNvSpPr/>
          <p:nvPr/>
        </p:nvSpPr>
        <p:spPr>
          <a:xfrm>
            <a:off x="5486400" y="2468880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5" name="Text 68"/>
          <p:cNvSpPr/>
          <p:nvPr/>
        </p:nvSpPr>
        <p:spPr>
          <a:xfrm>
            <a:off x="5559552" y="2468880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EIW Downstream</a:t>
            </a:r>
            <a:endParaRPr lang="en-US" sz="600" dirty="0"/>
          </a:p>
        </p:txBody>
      </p:sp>
      <p:sp>
        <p:nvSpPr>
          <p:cNvPr id="76" name="Shape 69"/>
          <p:cNvSpPr/>
          <p:nvPr/>
        </p:nvSpPr>
        <p:spPr>
          <a:xfrm>
            <a:off x="6949440" y="2514600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7" name="Shape 70"/>
          <p:cNvSpPr/>
          <p:nvPr/>
        </p:nvSpPr>
        <p:spPr>
          <a:xfrm>
            <a:off x="6949440" y="2514600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8" name="Shape 71"/>
          <p:cNvSpPr/>
          <p:nvPr/>
        </p:nvSpPr>
        <p:spPr>
          <a:xfrm>
            <a:off x="7571232" y="2514600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79" name="Shape 72"/>
          <p:cNvSpPr/>
          <p:nvPr/>
        </p:nvSpPr>
        <p:spPr>
          <a:xfrm>
            <a:off x="7571232" y="2514600"/>
            <a:ext cx="24384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80" name="Text 73"/>
          <p:cNvSpPr/>
          <p:nvPr/>
        </p:nvSpPr>
        <p:spPr>
          <a:xfrm>
            <a:off x="8321040" y="246888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100h</a:t>
            </a:r>
            <a:endParaRPr lang="en-US" sz="550" dirty="0"/>
          </a:p>
        </p:txBody>
      </p:sp>
      <p:sp>
        <p:nvSpPr>
          <p:cNvPr id="81" name="Text 74"/>
          <p:cNvSpPr/>
          <p:nvPr/>
        </p:nvSpPr>
        <p:spPr>
          <a:xfrm>
            <a:off x="5559552" y="262432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Comparison Tool</a:t>
            </a:r>
            <a:endParaRPr lang="en-US" sz="600" dirty="0"/>
          </a:p>
        </p:txBody>
      </p:sp>
      <p:sp>
        <p:nvSpPr>
          <p:cNvPr id="82" name="Shape 75"/>
          <p:cNvSpPr/>
          <p:nvPr/>
        </p:nvSpPr>
        <p:spPr>
          <a:xfrm>
            <a:off x="6949440" y="2670048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3" name="Shape 76"/>
          <p:cNvSpPr/>
          <p:nvPr/>
        </p:nvSpPr>
        <p:spPr>
          <a:xfrm>
            <a:off x="6949440" y="2670048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84" name="Shape 77"/>
          <p:cNvSpPr/>
          <p:nvPr/>
        </p:nvSpPr>
        <p:spPr>
          <a:xfrm>
            <a:off x="7571232" y="2670048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5" name="Shape 78"/>
          <p:cNvSpPr/>
          <p:nvPr/>
        </p:nvSpPr>
        <p:spPr>
          <a:xfrm>
            <a:off x="7571232" y="2670048"/>
            <a:ext cx="12192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86" name="Text 79"/>
          <p:cNvSpPr/>
          <p:nvPr/>
        </p:nvSpPr>
        <p:spPr>
          <a:xfrm>
            <a:off x="8321040" y="262432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50h</a:t>
            </a:r>
            <a:endParaRPr lang="en-US" sz="550" dirty="0"/>
          </a:p>
        </p:txBody>
      </p:sp>
      <p:sp>
        <p:nvSpPr>
          <p:cNvPr id="87" name="Shape 80"/>
          <p:cNvSpPr/>
          <p:nvPr/>
        </p:nvSpPr>
        <p:spPr>
          <a:xfrm>
            <a:off x="5486400" y="2779776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8" name="Text 81"/>
          <p:cNvSpPr/>
          <p:nvPr/>
        </p:nvSpPr>
        <p:spPr>
          <a:xfrm>
            <a:off x="5559552" y="2779776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Test Tool</a:t>
            </a:r>
            <a:endParaRPr lang="en-US" sz="600" dirty="0"/>
          </a:p>
        </p:txBody>
      </p:sp>
      <p:sp>
        <p:nvSpPr>
          <p:cNvPr id="89" name="Shape 82"/>
          <p:cNvSpPr/>
          <p:nvPr/>
        </p:nvSpPr>
        <p:spPr>
          <a:xfrm>
            <a:off x="6949440" y="2825496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0" name="Shape 83"/>
          <p:cNvSpPr/>
          <p:nvPr/>
        </p:nvSpPr>
        <p:spPr>
          <a:xfrm>
            <a:off x="6949440" y="2825496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1" name="Shape 84"/>
          <p:cNvSpPr/>
          <p:nvPr/>
        </p:nvSpPr>
        <p:spPr>
          <a:xfrm>
            <a:off x="7571232" y="2825496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2" name="Shape 85"/>
          <p:cNvSpPr/>
          <p:nvPr/>
        </p:nvSpPr>
        <p:spPr>
          <a:xfrm>
            <a:off x="7571232" y="2825496"/>
            <a:ext cx="9754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3" name="Text 86"/>
          <p:cNvSpPr/>
          <p:nvPr/>
        </p:nvSpPr>
        <p:spPr>
          <a:xfrm>
            <a:off x="8321040" y="277977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40h</a:t>
            </a:r>
            <a:endParaRPr lang="en-US" sz="550" dirty="0"/>
          </a:p>
        </p:txBody>
      </p:sp>
      <p:sp>
        <p:nvSpPr>
          <p:cNvPr id="94" name="Text 87"/>
          <p:cNvSpPr/>
          <p:nvPr/>
        </p:nvSpPr>
        <p:spPr>
          <a:xfrm>
            <a:off x="5559552" y="2935224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Octane Migration</a:t>
            </a:r>
            <a:endParaRPr lang="en-US" sz="600" dirty="0"/>
          </a:p>
        </p:txBody>
      </p:sp>
      <p:sp>
        <p:nvSpPr>
          <p:cNvPr id="95" name="Shape 88"/>
          <p:cNvSpPr/>
          <p:nvPr/>
        </p:nvSpPr>
        <p:spPr>
          <a:xfrm>
            <a:off x="6949440" y="2980944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6" name="Shape 89"/>
          <p:cNvSpPr/>
          <p:nvPr/>
        </p:nvSpPr>
        <p:spPr>
          <a:xfrm>
            <a:off x="6949440" y="2980944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7" name="Shape 90"/>
          <p:cNvSpPr/>
          <p:nvPr/>
        </p:nvSpPr>
        <p:spPr>
          <a:xfrm>
            <a:off x="7571232" y="2980944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8" name="Shape 91"/>
          <p:cNvSpPr/>
          <p:nvPr/>
        </p:nvSpPr>
        <p:spPr>
          <a:xfrm>
            <a:off x="7571232" y="2980944"/>
            <a:ext cx="9754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9" name="Text 92"/>
          <p:cNvSpPr/>
          <p:nvPr/>
        </p:nvSpPr>
        <p:spPr>
          <a:xfrm>
            <a:off x="8321040" y="2935224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40h</a:t>
            </a:r>
            <a:endParaRPr lang="en-US" sz="550" dirty="0"/>
          </a:p>
        </p:txBody>
      </p:sp>
      <p:sp>
        <p:nvSpPr>
          <p:cNvPr id="100" name="Shape 93"/>
          <p:cNvSpPr/>
          <p:nvPr/>
        </p:nvSpPr>
        <p:spPr>
          <a:xfrm>
            <a:off x="5486400" y="3090672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01" name="Text 94"/>
          <p:cNvSpPr/>
          <p:nvPr/>
        </p:nvSpPr>
        <p:spPr>
          <a:xfrm>
            <a:off x="5559552" y="3090672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Evidence Docs</a:t>
            </a:r>
            <a:endParaRPr lang="en-US" sz="600" dirty="0"/>
          </a:p>
        </p:txBody>
      </p:sp>
      <p:sp>
        <p:nvSpPr>
          <p:cNvPr id="102" name="Shape 95"/>
          <p:cNvSpPr/>
          <p:nvPr/>
        </p:nvSpPr>
        <p:spPr>
          <a:xfrm>
            <a:off x="6949440" y="3136392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3" name="Shape 96"/>
          <p:cNvSpPr/>
          <p:nvPr/>
        </p:nvSpPr>
        <p:spPr>
          <a:xfrm>
            <a:off x="6949440" y="3136392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4" name="Shape 97"/>
          <p:cNvSpPr/>
          <p:nvPr/>
        </p:nvSpPr>
        <p:spPr>
          <a:xfrm>
            <a:off x="7571232" y="3136392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5" name="Shape 98"/>
          <p:cNvSpPr/>
          <p:nvPr/>
        </p:nvSpPr>
        <p:spPr>
          <a:xfrm>
            <a:off x="7571232" y="3136392"/>
            <a:ext cx="7315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6" name="Text 99"/>
          <p:cNvSpPr/>
          <p:nvPr/>
        </p:nvSpPr>
        <p:spPr>
          <a:xfrm>
            <a:off x="8321040" y="3090672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30h</a:t>
            </a:r>
            <a:endParaRPr lang="en-US" sz="550" dirty="0"/>
          </a:p>
        </p:txBody>
      </p:sp>
      <p:sp>
        <p:nvSpPr>
          <p:cNvPr id="107" name="Text 100"/>
          <p:cNvSpPr/>
          <p:nvPr/>
        </p:nvSpPr>
        <p:spPr>
          <a:xfrm>
            <a:off x="5559552" y="3246120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- Copilot</a:t>
            </a:r>
            <a:endParaRPr lang="en-US" sz="600" dirty="0"/>
          </a:p>
        </p:txBody>
      </p:sp>
      <p:sp>
        <p:nvSpPr>
          <p:cNvPr id="108" name="Shape 101"/>
          <p:cNvSpPr/>
          <p:nvPr/>
        </p:nvSpPr>
        <p:spPr>
          <a:xfrm>
            <a:off x="6949440" y="3291840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9" name="Shape 102"/>
          <p:cNvSpPr/>
          <p:nvPr/>
        </p:nvSpPr>
        <p:spPr>
          <a:xfrm>
            <a:off x="6949440" y="3291840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0" name="Shape 103"/>
          <p:cNvSpPr/>
          <p:nvPr/>
        </p:nvSpPr>
        <p:spPr>
          <a:xfrm>
            <a:off x="7571232" y="3291840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11" name="Shape 104"/>
          <p:cNvSpPr/>
          <p:nvPr/>
        </p:nvSpPr>
        <p:spPr>
          <a:xfrm>
            <a:off x="7571232" y="3291840"/>
            <a:ext cx="7315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2" name="Text 105"/>
          <p:cNvSpPr/>
          <p:nvPr/>
        </p:nvSpPr>
        <p:spPr>
          <a:xfrm>
            <a:off x="8321040" y="3246120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30h</a:t>
            </a:r>
            <a:endParaRPr lang="en-US" sz="550" dirty="0"/>
          </a:p>
        </p:txBody>
      </p:sp>
      <p:sp>
        <p:nvSpPr>
          <p:cNvPr id="113" name="Shape 106"/>
          <p:cNvSpPr/>
          <p:nvPr/>
        </p:nvSpPr>
        <p:spPr>
          <a:xfrm>
            <a:off x="5486400" y="3401568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14" name="Text 107"/>
          <p:cNvSpPr/>
          <p:nvPr/>
        </p:nvSpPr>
        <p:spPr>
          <a:xfrm>
            <a:off x="5559552" y="340156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Dashboard</a:t>
            </a:r>
            <a:endParaRPr lang="en-US" sz="600" dirty="0"/>
          </a:p>
        </p:txBody>
      </p:sp>
      <p:sp>
        <p:nvSpPr>
          <p:cNvPr id="115" name="Shape 108"/>
          <p:cNvSpPr/>
          <p:nvPr/>
        </p:nvSpPr>
        <p:spPr>
          <a:xfrm>
            <a:off x="6949440" y="3447288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6" name="Shape 109"/>
          <p:cNvSpPr/>
          <p:nvPr/>
        </p:nvSpPr>
        <p:spPr>
          <a:xfrm>
            <a:off x="6949440" y="3447288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7" name="Shape 110"/>
          <p:cNvSpPr/>
          <p:nvPr/>
        </p:nvSpPr>
        <p:spPr>
          <a:xfrm>
            <a:off x="7571232" y="3447288"/>
            <a:ext cx="731520" cy="6400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18" name="Shape 111"/>
          <p:cNvSpPr/>
          <p:nvPr/>
        </p:nvSpPr>
        <p:spPr>
          <a:xfrm>
            <a:off x="7571232" y="3447288"/>
            <a:ext cx="4877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9" name="Text 112"/>
          <p:cNvSpPr/>
          <p:nvPr/>
        </p:nvSpPr>
        <p:spPr>
          <a:xfrm>
            <a:off x="8321040" y="340156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20h</a:t>
            </a:r>
            <a:endParaRPr lang="en-US" sz="550" dirty="0"/>
          </a:p>
        </p:txBody>
      </p:sp>
      <p:sp>
        <p:nvSpPr>
          <p:cNvPr id="120" name="Text 113"/>
          <p:cNvSpPr/>
          <p:nvPr/>
        </p:nvSpPr>
        <p:spPr>
          <a:xfrm>
            <a:off x="5559552" y="3557016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Dashboard</a:t>
            </a:r>
            <a:endParaRPr lang="en-US" sz="600" dirty="0"/>
          </a:p>
        </p:txBody>
      </p:sp>
      <p:sp>
        <p:nvSpPr>
          <p:cNvPr id="121" name="Shape 114"/>
          <p:cNvSpPr/>
          <p:nvPr/>
        </p:nvSpPr>
        <p:spPr>
          <a:xfrm>
            <a:off x="6949440" y="3602736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2" name="Shape 115"/>
          <p:cNvSpPr/>
          <p:nvPr/>
        </p:nvSpPr>
        <p:spPr>
          <a:xfrm>
            <a:off x="6949440" y="3602736"/>
            <a:ext cx="50292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3" name="Text 116"/>
          <p:cNvSpPr/>
          <p:nvPr/>
        </p:nvSpPr>
        <p:spPr>
          <a:xfrm>
            <a:off x="7571232" y="3557016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600" dirty="0"/>
          </a:p>
        </p:txBody>
      </p:sp>
      <p:sp>
        <p:nvSpPr>
          <p:cNvPr id="124" name="Shape 117"/>
          <p:cNvSpPr/>
          <p:nvPr/>
        </p:nvSpPr>
        <p:spPr>
          <a:xfrm>
            <a:off x="5486400" y="3712464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5" name="Text 118"/>
          <p:cNvSpPr/>
          <p:nvPr/>
        </p:nvSpPr>
        <p:spPr>
          <a:xfrm>
            <a:off x="5559552" y="3712464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</a:t>
            </a:r>
            <a:endParaRPr lang="en-US" sz="600" dirty="0"/>
          </a:p>
        </p:txBody>
      </p:sp>
      <p:sp>
        <p:nvSpPr>
          <p:cNvPr id="126" name="Shape 119"/>
          <p:cNvSpPr/>
          <p:nvPr/>
        </p:nvSpPr>
        <p:spPr>
          <a:xfrm>
            <a:off x="6949440" y="3758184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7" name="Shape 120"/>
          <p:cNvSpPr/>
          <p:nvPr/>
        </p:nvSpPr>
        <p:spPr>
          <a:xfrm>
            <a:off x="6949440" y="3758184"/>
            <a:ext cx="477774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8" name="Text 121"/>
          <p:cNvSpPr/>
          <p:nvPr/>
        </p:nvSpPr>
        <p:spPr>
          <a:xfrm>
            <a:off x="7571232" y="3712464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600" dirty="0"/>
          </a:p>
        </p:txBody>
      </p:sp>
      <p:sp>
        <p:nvSpPr>
          <p:cNvPr id="129" name="Text 122"/>
          <p:cNvSpPr/>
          <p:nvPr/>
        </p:nvSpPr>
        <p:spPr>
          <a:xfrm>
            <a:off x="5559552" y="3867912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600" dirty="0"/>
          </a:p>
        </p:txBody>
      </p:sp>
      <p:sp>
        <p:nvSpPr>
          <p:cNvPr id="130" name="Shape 123"/>
          <p:cNvSpPr/>
          <p:nvPr/>
        </p:nvSpPr>
        <p:spPr>
          <a:xfrm>
            <a:off x="6949440" y="3913632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1" name="Shape 124"/>
          <p:cNvSpPr/>
          <p:nvPr/>
        </p:nvSpPr>
        <p:spPr>
          <a:xfrm>
            <a:off x="6949440" y="3913632"/>
            <a:ext cx="477774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2" name="Text 125"/>
          <p:cNvSpPr/>
          <p:nvPr/>
        </p:nvSpPr>
        <p:spPr>
          <a:xfrm>
            <a:off x="7571232" y="3867912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600" dirty="0"/>
          </a:p>
        </p:txBody>
      </p:sp>
      <p:sp>
        <p:nvSpPr>
          <p:cNvPr id="133" name="Shape 126"/>
          <p:cNvSpPr/>
          <p:nvPr/>
        </p:nvSpPr>
        <p:spPr>
          <a:xfrm>
            <a:off x="5486400" y="4023360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4" name="Text 127"/>
          <p:cNvSpPr/>
          <p:nvPr/>
        </p:nvSpPr>
        <p:spPr>
          <a:xfrm>
            <a:off x="5559552" y="4023360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Metrics</a:t>
            </a:r>
            <a:endParaRPr lang="en-US" sz="600" dirty="0"/>
          </a:p>
        </p:txBody>
      </p:sp>
      <p:sp>
        <p:nvSpPr>
          <p:cNvPr id="135" name="Shape 128"/>
          <p:cNvSpPr/>
          <p:nvPr/>
        </p:nvSpPr>
        <p:spPr>
          <a:xfrm>
            <a:off x="6949440" y="4069080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6" name="Shape 129"/>
          <p:cNvSpPr/>
          <p:nvPr/>
        </p:nvSpPr>
        <p:spPr>
          <a:xfrm>
            <a:off x="6949440" y="4069080"/>
            <a:ext cx="402336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7" name="Text 130"/>
          <p:cNvSpPr/>
          <p:nvPr/>
        </p:nvSpPr>
        <p:spPr>
          <a:xfrm>
            <a:off x="7571232" y="4023360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600" dirty="0"/>
          </a:p>
        </p:txBody>
      </p:sp>
      <p:sp>
        <p:nvSpPr>
          <p:cNvPr id="138" name="Text 131"/>
          <p:cNvSpPr/>
          <p:nvPr/>
        </p:nvSpPr>
        <p:spPr>
          <a:xfrm>
            <a:off x="5559552" y="4178808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Prediction</a:t>
            </a:r>
            <a:endParaRPr lang="en-US" sz="600" dirty="0"/>
          </a:p>
        </p:txBody>
      </p:sp>
      <p:sp>
        <p:nvSpPr>
          <p:cNvPr id="139" name="Shape 132"/>
          <p:cNvSpPr/>
          <p:nvPr/>
        </p:nvSpPr>
        <p:spPr>
          <a:xfrm>
            <a:off x="6949440" y="4224528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0" name="Shape 133"/>
          <p:cNvSpPr/>
          <p:nvPr/>
        </p:nvSpPr>
        <p:spPr>
          <a:xfrm>
            <a:off x="6949440" y="4224528"/>
            <a:ext cx="25146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1" name="Text 134"/>
          <p:cNvSpPr/>
          <p:nvPr/>
        </p:nvSpPr>
        <p:spPr>
          <a:xfrm>
            <a:off x="7571232" y="4178808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600" dirty="0"/>
          </a:p>
        </p:txBody>
      </p:sp>
      <p:sp>
        <p:nvSpPr>
          <p:cNvPr id="142" name="Shape 135"/>
          <p:cNvSpPr/>
          <p:nvPr/>
        </p:nvSpPr>
        <p:spPr>
          <a:xfrm>
            <a:off x="5486400" y="4334256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3" name="Text 136"/>
          <p:cNvSpPr/>
          <p:nvPr/>
        </p:nvSpPr>
        <p:spPr>
          <a:xfrm>
            <a:off x="5559552" y="4334256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Agent Bot</a:t>
            </a:r>
            <a:endParaRPr lang="en-US" sz="600" dirty="0"/>
          </a:p>
        </p:txBody>
      </p:sp>
      <p:sp>
        <p:nvSpPr>
          <p:cNvPr id="144" name="Shape 137"/>
          <p:cNvSpPr/>
          <p:nvPr/>
        </p:nvSpPr>
        <p:spPr>
          <a:xfrm>
            <a:off x="6949440" y="4379976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5" name="Shape 138"/>
          <p:cNvSpPr/>
          <p:nvPr/>
        </p:nvSpPr>
        <p:spPr>
          <a:xfrm>
            <a:off x="6949440" y="4379976"/>
            <a:ext cx="201168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6" name="Text 139"/>
          <p:cNvSpPr/>
          <p:nvPr/>
        </p:nvSpPr>
        <p:spPr>
          <a:xfrm>
            <a:off x="7571232" y="4334256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600" dirty="0"/>
          </a:p>
        </p:txBody>
      </p:sp>
      <p:sp>
        <p:nvSpPr>
          <p:cNvPr id="147" name="Text 140"/>
          <p:cNvSpPr/>
          <p:nvPr/>
        </p:nvSpPr>
        <p:spPr>
          <a:xfrm>
            <a:off x="5559552" y="4489704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Creation</a:t>
            </a:r>
            <a:endParaRPr lang="en-US" sz="600" dirty="0"/>
          </a:p>
        </p:txBody>
      </p:sp>
      <p:sp>
        <p:nvSpPr>
          <p:cNvPr id="148" name="Shape 141"/>
          <p:cNvSpPr/>
          <p:nvPr/>
        </p:nvSpPr>
        <p:spPr>
          <a:xfrm>
            <a:off x="6949440" y="4535424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9" name="Shape 142"/>
          <p:cNvSpPr/>
          <p:nvPr/>
        </p:nvSpPr>
        <p:spPr>
          <a:xfrm>
            <a:off x="6949440" y="4535424"/>
            <a:ext cx="125730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0" name="Text 143"/>
          <p:cNvSpPr/>
          <p:nvPr/>
        </p:nvSpPr>
        <p:spPr>
          <a:xfrm>
            <a:off x="7571232" y="4489704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600" dirty="0"/>
          </a:p>
        </p:txBody>
      </p:sp>
      <p:sp>
        <p:nvSpPr>
          <p:cNvPr id="151" name="Shape 144"/>
          <p:cNvSpPr/>
          <p:nvPr/>
        </p:nvSpPr>
        <p:spPr>
          <a:xfrm>
            <a:off x="5486400" y="4645152"/>
            <a:ext cx="3337560" cy="1554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2" name="Text 145"/>
          <p:cNvSpPr/>
          <p:nvPr/>
        </p:nvSpPr>
        <p:spPr>
          <a:xfrm>
            <a:off x="5559552" y="4645152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Knowledge Bank</a:t>
            </a:r>
            <a:endParaRPr lang="en-US" sz="600" dirty="0"/>
          </a:p>
        </p:txBody>
      </p:sp>
      <p:sp>
        <p:nvSpPr>
          <p:cNvPr id="153" name="Shape 146"/>
          <p:cNvSpPr/>
          <p:nvPr/>
        </p:nvSpPr>
        <p:spPr>
          <a:xfrm>
            <a:off x="6949440" y="4690872"/>
            <a:ext cx="502920" cy="6400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4" name="Shape 147"/>
          <p:cNvSpPr/>
          <p:nvPr/>
        </p:nvSpPr>
        <p:spPr>
          <a:xfrm>
            <a:off x="6949440" y="4690872"/>
            <a:ext cx="50292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5" name="Text 148"/>
          <p:cNvSpPr/>
          <p:nvPr/>
        </p:nvSpPr>
        <p:spPr>
          <a:xfrm>
            <a:off x="7571232" y="4645152"/>
            <a:ext cx="731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600" dirty="0"/>
          </a:p>
        </p:txBody>
      </p:sp>
      <p:sp>
        <p:nvSpPr>
          <p:cNvPr id="156" name="Shape 149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7" name="Text 150"/>
          <p:cNvSpPr/>
          <p:nvPr/>
        </p:nvSpPr>
        <p:spPr>
          <a:xfrm>
            <a:off x="457200" y="4956048"/>
            <a:ext cx="8229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CATS – Driving Innovation in QA Automation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CoE Automation and Tools Squad (CATS)</dc:title>
  <dc:subject>PptxGenJS Presentation</dc:subject>
  <dc:creator>PptxGenJS</dc:creator>
  <cp:lastModifiedBy>PptxGenJS</cp:lastModifiedBy>
  <cp:revision>1</cp:revision>
  <dcterms:created xsi:type="dcterms:W3CDTF">2026-02-11T03:10:29Z</dcterms:created>
  <dcterms:modified xsi:type="dcterms:W3CDTF">2026-02-11T03:10:29Z</dcterms:modified>
</cp:coreProperties>
</file>