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CoE Automation and Tools Squad (CATS)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572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CATS Objective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43584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070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new utilities and tools to enhance automation capabilities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80744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standardization across our automation frameworks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1591056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55448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other teams with troubleshooting and adopting new tools/tech stack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828800"/>
            <a:ext cx="4937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28800"/>
            <a:ext cx="45720" cy="1920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Accomplishments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176272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148840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Code Review Using GitHub Copilot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2276856"/>
            <a:ext cx="4480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code analysis and standardization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02920" y="2441448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414016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Test Tool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2542032"/>
            <a:ext cx="4480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artifacts in Excel, Word, PDFs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02920" y="2706624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679192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Comparison Tool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2807208"/>
            <a:ext cx="4480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XML to readable format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02920" y="2971800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944368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EIW Downstream Tool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3072384"/>
            <a:ext cx="4480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all 52 transaction logics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02920" y="3236976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209544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Artifact Generation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" y="3337560"/>
            <a:ext cx="4480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evidence with step definitions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02920" y="3502152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474720"/>
            <a:ext cx="4480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Access Report Generation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" y="3602736"/>
            <a:ext cx="4480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accesses for TMs at SSO level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20040" y="3886200"/>
            <a:ext cx="4937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886200"/>
            <a:ext cx="45720" cy="10058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Upcoming Deliverables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4187952"/>
            <a:ext cx="128016" cy="128016"/>
          </a:xfrm>
          <a:prstGeom prst="ellipse">
            <a:avLst/>
          </a:prstGeom>
          <a:solidFill>
            <a:srgbClr val="FED7AA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4187952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85800" y="4187952"/>
            <a:ext cx="4434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COE Pulse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Quality metrics &amp; automation dashboard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02920" y="4343400"/>
            <a:ext cx="128016" cy="128016"/>
          </a:xfrm>
          <a:prstGeom prst="ellipse">
            <a:avLst/>
          </a:prstGeom>
          <a:solidFill>
            <a:srgbClr val="FED7AA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4343400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85800" y="4343400"/>
            <a:ext cx="4434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Metrics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Code review metrics from GitHub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02920" y="4498848"/>
            <a:ext cx="128016" cy="128016"/>
          </a:xfrm>
          <a:prstGeom prst="ellipse">
            <a:avLst/>
          </a:prstGeom>
          <a:solidFill>
            <a:srgbClr val="FED7AA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4498848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85800" y="4498848"/>
            <a:ext cx="4434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Defect Prediction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AI-based defect prediction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02920" y="4654296"/>
            <a:ext cx="128016" cy="128016"/>
          </a:xfrm>
          <a:prstGeom prst="ellipse">
            <a:avLst/>
          </a:prstGeom>
          <a:solidFill>
            <a:srgbClr val="FED7AA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" y="4654296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85800" y="4654296"/>
            <a:ext cx="4434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Comparison Tool</a:t>
            </a:r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Visual differences detection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394960" y="1828800"/>
            <a:ext cx="342900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394960" y="1828800"/>
            <a:ext cx="342900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9"/>
          <p:cNvSpPr/>
          <p:nvPr/>
        </p:nvSpPr>
        <p:spPr>
          <a:xfrm>
            <a:off x="5394960" y="18562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Status Overview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394960" y="2121408"/>
            <a:ext cx="3429000" cy="1828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3" name="Text 51"/>
          <p:cNvSpPr/>
          <p:nvPr/>
        </p:nvSpPr>
        <p:spPr>
          <a:xfrm>
            <a:off x="5468112" y="21214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Name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138160" y="21214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394960" y="2322576"/>
            <a:ext cx="3429000" cy="1463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6" name="Text 54"/>
          <p:cNvSpPr/>
          <p:nvPr/>
        </p:nvSpPr>
        <p:spPr>
          <a:xfrm>
            <a:off x="5468112" y="232257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Comparison Tool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7607808" y="2363724"/>
            <a:ext cx="548640" cy="640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Shape 56"/>
          <p:cNvSpPr/>
          <p:nvPr/>
        </p:nvSpPr>
        <p:spPr>
          <a:xfrm>
            <a:off x="7607808" y="2363724"/>
            <a:ext cx="54864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9" name="Text 57"/>
          <p:cNvSpPr/>
          <p:nvPr/>
        </p:nvSpPr>
        <p:spPr>
          <a:xfrm>
            <a:off x="8183880" y="2322576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468112" y="246888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Logging Utility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7607808" y="2510028"/>
            <a:ext cx="548640" cy="640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60"/>
          <p:cNvSpPr/>
          <p:nvPr/>
        </p:nvSpPr>
        <p:spPr>
          <a:xfrm>
            <a:off x="7607808" y="2510028"/>
            <a:ext cx="54864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3" name="Text 61"/>
          <p:cNvSpPr/>
          <p:nvPr/>
        </p:nvSpPr>
        <p:spPr>
          <a:xfrm>
            <a:off x="8183880" y="246888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5394960" y="2615184"/>
            <a:ext cx="3429000" cy="1463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5" name="Text 63"/>
          <p:cNvSpPr/>
          <p:nvPr/>
        </p:nvSpPr>
        <p:spPr>
          <a:xfrm>
            <a:off x="5468112" y="261518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EIW Downstream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607808" y="2656332"/>
            <a:ext cx="548640" cy="640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5"/>
          <p:cNvSpPr/>
          <p:nvPr/>
        </p:nvSpPr>
        <p:spPr>
          <a:xfrm>
            <a:off x="7607808" y="2656332"/>
            <a:ext cx="54864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6"/>
          <p:cNvSpPr/>
          <p:nvPr/>
        </p:nvSpPr>
        <p:spPr>
          <a:xfrm>
            <a:off x="8183880" y="2615184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468112" y="276148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Dashboard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7607808" y="2802636"/>
            <a:ext cx="548640" cy="640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1" name="Shape 69"/>
          <p:cNvSpPr/>
          <p:nvPr/>
        </p:nvSpPr>
        <p:spPr>
          <a:xfrm>
            <a:off x="7607808" y="2802636"/>
            <a:ext cx="54864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2" name="Text 70"/>
          <p:cNvSpPr/>
          <p:nvPr/>
        </p:nvSpPr>
        <p:spPr>
          <a:xfrm>
            <a:off x="8183880" y="2761488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5394960" y="2907792"/>
            <a:ext cx="3429000" cy="1463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4" name="Text 72"/>
          <p:cNvSpPr/>
          <p:nvPr/>
        </p:nvSpPr>
        <p:spPr>
          <a:xfrm>
            <a:off x="5468112" y="290779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Evidence Documents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7607808" y="2948940"/>
            <a:ext cx="548640" cy="640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6" name="Shape 74"/>
          <p:cNvSpPr/>
          <p:nvPr/>
        </p:nvSpPr>
        <p:spPr>
          <a:xfrm>
            <a:off x="7607808" y="2948940"/>
            <a:ext cx="54864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7" name="Text 75"/>
          <p:cNvSpPr/>
          <p:nvPr/>
        </p:nvSpPr>
        <p:spPr>
          <a:xfrm>
            <a:off x="8183880" y="2907792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5468112" y="305409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- GitHub Copilot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7607808" y="3095244"/>
            <a:ext cx="548640" cy="640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Shape 78"/>
          <p:cNvSpPr/>
          <p:nvPr/>
        </p:nvSpPr>
        <p:spPr>
          <a:xfrm>
            <a:off x="7607808" y="3095244"/>
            <a:ext cx="54864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1" name="Text 79"/>
          <p:cNvSpPr/>
          <p:nvPr/>
        </p:nvSpPr>
        <p:spPr>
          <a:xfrm>
            <a:off x="8183880" y="3054096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5394960" y="3200400"/>
            <a:ext cx="3429000" cy="1463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3" name="Text 81"/>
          <p:cNvSpPr/>
          <p:nvPr/>
        </p:nvSpPr>
        <p:spPr>
          <a:xfrm>
            <a:off x="5468112" y="320040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Migration Utility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7607808" y="3241548"/>
            <a:ext cx="548640" cy="640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5" name="Shape 83"/>
          <p:cNvSpPr/>
          <p:nvPr/>
        </p:nvSpPr>
        <p:spPr>
          <a:xfrm>
            <a:off x="7607808" y="3241548"/>
            <a:ext cx="54864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6" name="Text 84"/>
          <p:cNvSpPr/>
          <p:nvPr/>
        </p:nvSpPr>
        <p:spPr>
          <a:xfrm>
            <a:off x="8183880" y="320040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5468112" y="334670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Management - ITRD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7607808" y="3387852"/>
            <a:ext cx="548640" cy="640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9" name="Shape 87"/>
          <p:cNvSpPr/>
          <p:nvPr/>
        </p:nvSpPr>
        <p:spPr>
          <a:xfrm>
            <a:off x="7607808" y="3387852"/>
            <a:ext cx="54864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0" name="Text 88"/>
          <p:cNvSpPr/>
          <p:nvPr/>
        </p:nvSpPr>
        <p:spPr>
          <a:xfrm>
            <a:off x="8183880" y="3346704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5394960" y="3493008"/>
            <a:ext cx="3429000" cy="1463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2" name="Text 90"/>
          <p:cNvSpPr/>
          <p:nvPr/>
        </p:nvSpPr>
        <p:spPr>
          <a:xfrm>
            <a:off x="5468112" y="349300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Test Tool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7607808" y="3534156"/>
            <a:ext cx="548640" cy="640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4" name="Shape 92"/>
          <p:cNvSpPr/>
          <p:nvPr/>
        </p:nvSpPr>
        <p:spPr>
          <a:xfrm>
            <a:off x="7607808" y="3534156"/>
            <a:ext cx="54864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5" name="Text 93"/>
          <p:cNvSpPr/>
          <p:nvPr/>
        </p:nvSpPr>
        <p:spPr>
          <a:xfrm>
            <a:off x="8183880" y="3493008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" dirty="0"/>
          </a:p>
        </p:txBody>
      </p:sp>
      <p:sp>
        <p:nvSpPr>
          <p:cNvPr id="96" name="Text 94"/>
          <p:cNvSpPr/>
          <p:nvPr/>
        </p:nvSpPr>
        <p:spPr>
          <a:xfrm>
            <a:off x="5468112" y="363931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 UI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7607808" y="3680460"/>
            <a:ext cx="548640" cy="640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8" name="Shape 96"/>
          <p:cNvSpPr/>
          <p:nvPr/>
        </p:nvSpPr>
        <p:spPr>
          <a:xfrm>
            <a:off x="7607808" y="3680460"/>
            <a:ext cx="5212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9" name="Text 97"/>
          <p:cNvSpPr/>
          <p:nvPr/>
        </p:nvSpPr>
        <p:spPr>
          <a:xfrm>
            <a:off x="8183880" y="3639312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5394960" y="3785616"/>
            <a:ext cx="3429000" cy="1463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1" name="Text 99"/>
          <p:cNvSpPr/>
          <p:nvPr/>
        </p:nvSpPr>
        <p:spPr>
          <a:xfrm>
            <a:off x="5468112" y="37856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 Clean Up Tool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7607808" y="3826764"/>
            <a:ext cx="548640" cy="640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607808" y="3826764"/>
            <a:ext cx="5212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4" name="Text 102"/>
          <p:cNvSpPr/>
          <p:nvPr/>
        </p:nvSpPr>
        <p:spPr>
          <a:xfrm>
            <a:off x="8183880" y="3785616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600" dirty="0"/>
          </a:p>
        </p:txBody>
      </p:sp>
      <p:sp>
        <p:nvSpPr>
          <p:cNvPr id="105" name="Text 103"/>
          <p:cNvSpPr/>
          <p:nvPr/>
        </p:nvSpPr>
        <p:spPr>
          <a:xfrm>
            <a:off x="5468112" y="393192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for Quality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7607808" y="3973068"/>
            <a:ext cx="548640" cy="640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7607808" y="3973068"/>
            <a:ext cx="5212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8" name="Text 106"/>
          <p:cNvSpPr/>
          <p:nvPr/>
        </p:nvSpPr>
        <p:spPr>
          <a:xfrm>
            <a:off x="8183880" y="393192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600" dirty="0"/>
          </a:p>
        </p:txBody>
      </p:sp>
      <p:sp>
        <p:nvSpPr>
          <p:cNvPr id="109" name="Shape 107"/>
          <p:cNvSpPr/>
          <p:nvPr/>
        </p:nvSpPr>
        <p:spPr>
          <a:xfrm>
            <a:off x="5394960" y="4078224"/>
            <a:ext cx="3429000" cy="1463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0" name="Text 108"/>
          <p:cNvSpPr/>
          <p:nvPr/>
        </p:nvSpPr>
        <p:spPr>
          <a:xfrm>
            <a:off x="5468112" y="407822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Metrics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7607808" y="4119372"/>
            <a:ext cx="548640" cy="640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7607808" y="4119372"/>
            <a:ext cx="438912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3" name="Text 111"/>
          <p:cNvSpPr/>
          <p:nvPr/>
        </p:nvSpPr>
        <p:spPr>
          <a:xfrm>
            <a:off x="8183880" y="4078224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600" dirty="0"/>
          </a:p>
        </p:txBody>
      </p:sp>
      <p:sp>
        <p:nvSpPr>
          <p:cNvPr id="114" name="Text 112"/>
          <p:cNvSpPr/>
          <p:nvPr/>
        </p:nvSpPr>
        <p:spPr>
          <a:xfrm>
            <a:off x="5468112" y="4224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Prediction Model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7607808" y="4265676"/>
            <a:ext cx="548640" cy="640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7607808" y="4265676"/>
            <a:ext cx="2743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7" name="Text 115"/>
          <p:cNvSpPr/>
          <p:nvPr/>
        </p:nvSpPr>
        <p:spPr>
          <a:xfrm>
            <a:off x="8183880" y="4224528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600" dirty="0"/>
          </a:p>
        </p:txBody>
      </p:sp>
      <p:sp>
        <p:nvSpPr>
          <p:cNvPr id="118" name="Shape 116"/>
          <p:cNvSpPr/>
          <p:nvPr/>
        </p:nvSpPr>
        <p:spPr>
          <a:xfrm>
            <a:off x="5394960" y="4370832"/>
            <a:ext cx="3429000" cy="1463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9" name="Text 117"/>
          <p:cNvSpPr/>
          <p:nvPr/>
        </p:nvSpPr>
        <p:spPr>
          <a:xfrm>
            <a:off x="5468112" y="437083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Agent Bot</a:t>
            </a:r>
            <a:endParaRPr lang="en-US" sz="650" dirty="0"/>
          </a:p>
        </p:txBody>
      </p:sp>
      <p:sp>
        <p:nvSpPr>
          <p:cNvPr id="120" name="Shape 118"/>
          <p:cNvSpPr/>
          <p:nvPr/>
        </p:nvSpPr>
        <p:spPr>
          <a:xfrm>
            <a:off x="7607808" y="4411980"/>
            <a:ext cx="548640" cy="640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7607808" y="4411980"/>
            <a:ext cx="219456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2" name="Text 120"/>
          <p:cNvSpPr/>
          <p:nvPr/>
        </p:nvSpPr>
        <p:spPr>
          <a:xfrm>
            <a:off x="8183880" y="4370832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600" dirty="0"/>
          </a:p>
        </p:txBody>
      </p:sp>
      <p:sp>
        <p:nvSpPr>
          <p:cNvPr id="123" name="Text 121"/>
          <p:cNvSpPr/>
          <p:nvPr/>
        </p:nvSpPr>
        <p:spPr>
          <a:xfrm>
            <a:off x="5468112" y="451713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Creation Skeleton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7607808" y="4558284"/>
            <a:ext cx="548640" cy="640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7607808" y="4558284"/>
            <a:ext cx="13716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6" name="Text 124"/>
          <p:cNvSpPr/>
          <p:nvPr/>
        </p:nvSpPr>
        <p:spPr>
          <a:xfrm>
            <a:off x="8183880" y="4517136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5394960" y="4663440"/>
            <a:ext cx="3429000" cy="14630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8" name="Text 126"/>
          <p:cNvSpPr/>
          <p:nvPr/>
        </p:nvSpPr>
        <p:spPr>
          <a:xfrm>
            <a:off x="5468112" y="466344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Knowledge Bank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7607808" y="4704588"/>
            <a:ext cx="548640" cy="640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7607808" y="4704588"/>
            <a:ext cx="54864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1" name="Text 129"/>
          <p:cNvSpPr/>
          <p:nvPr/>
        </p:nvSpPr>
        <p:spPr>
          <a:xfrm>
            <a:off x="8183880" y="466344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600" dirty="0"/>
          </a:p>
        </p:txBody>
      </p:sp>
      <p:sp>
        <p:nvSpPr>
          <p:cNvPr id="132" name="Shape 13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3" name="Text 131"/>
          <p:cNvSpPr/>
          <p:nvPr/>
        </p:nvSpPr>
        <p:spPr>
          <a:xfrm>
            <a:off x="457200" y="4956048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– Driving Innovation in QA Automation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CoE Automation and Tools Squad (CATS)</dc:title>
  <dc:subject>PptxGenJS Presentation</dc:subject>
  <dc:creator>PptxGenJS</dc:creator>
  <cp:lastModifiedBy>PptxGenJS</cp:lastModifiedBy>
  <cp:revision>1</cp:revision>
  <dcterms:created xsi:type="dcterms:W3CDTF">2026-02-10T07:30:30Z</dcterms:created>
  <dcterms:modified xsi:type="dcterms:W3CDTF">2026-02-10T07:30:30Z</dcterms:modified>
</cp:coreProperties>
</file>