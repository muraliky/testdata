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D4EDF2"/>
          </a:solidFill>
          <a:ln w="12700">
            <a:solidFill>
              <a:srgbClr val="D4ED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WIM PMP Team  —  2026 Strategic Goals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961120" y="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E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 |  Coverage  |  Innovation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" y="713232"/>
            <a:ext cx="3858768" cy="420624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" y="713232"/>
            <a:ext cx="3858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COVERAGE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6304" y="1133856"/>
            <a:ext cx="3858768" cy="5486400"/>
          </a:xfrm>
          <a:prstGeom prst="rect">
            <a:avLst/>
          </a:prstGeom>
          <a:solidFill>
            <a:srgbClr val="E2F2F5"/>
          </a:solidFill>
          <a:ln w="12700">
            <a:solidFill>
              <a:srgbClr val="E2F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152144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Maximising test automation across all 9 PMP applications to eliminate manual effort and release risk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151376" y="713232"/>
            <a:ext cx="3858768" cy="420624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51376" y="713232"/>
            <a:ext cx="3858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51376" y="1133856"/>
            <a:ext cx="3858768" cy="5486400"/>
          </a:xfrm>
          <a:prstGeom prst="rect">
            <a:avLst/>
          </a:prstGeom>
          <a:solidFill>
            <a:srgbClr val="E2F2F5"/>
          </a:solidFill>
          <a:ln w="12700">
            <a:solidFill>
              <a:srgbClr val="E2F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1152144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Streamlining the test lifecycle — CI/CD integration, smarter test data and framework modernisation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8156448" y="713232"/>
            <a:ext cx="3858768" cy="420624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6448" y="713232"/>
            <a:ext cx="3858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6448" y="1133856"/>
            <a:ext cx="3858768" cy="5486400"/>
          </a:xfrm>
          <a:prstGeom prst="rect">
            <a:avLst/>
          </a:prstGeom>
          <a:solidFill>
            <a:srgbClr val="E2F2F5"/>
          </a:solidFill>
          <a:ln w="12700">
            <a:solidFill>
              <a:srgbClr val="E2F2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1152144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AI at every stage — test generation, autonomous code review and framework conversion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146304" y="1645920"/>
            <a:ext cx="1267968" cy="548640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" y="1682496"/>
            <a:ext cx="126796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1,395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6304" y="1958645"/>
            <a:ext cx="1267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TCs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441704" y="1645920"/>
            <a:ext cx="1267968" cy="548640"/>
          </a:xfrm>
          <a:prstGeom prst="rect">
            <a:avLst/>
          </a:prstGeom>
          <a:solidFill>
            <a:srgbClr val="0E7D94"/>
          </a:solidFill>
          <a:ln w="12700">
            <a:solidFill>
              <a:srgbClr val="0E7D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41704" y="1682496"/>
            <a:ext cx="126796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41704" y="1958645"/>
            <a:ext cx="1267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37104" y="1645920"/>
            <a:ext cx="1267968" cy="548640"/>
          </a:xfrm>
          <a:prstGeom prst="rect">
            <a:avLst/>
          </a:prstGeom>
          <a:solidFill>
            <a:srgbClr val="119EBB"/>
          </a:solidFill>
          <a:ln w="12700">
            <a:solidFill>
              <a:srgbClr val="119E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37104" y="1682496"/>
            <a:ext cx="126796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737104" y="1958645"/>
            <a:ext cx="1267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Backlog→Q2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01168" y="2286000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Per-Application Coverage Breakdown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46304" y="2514600"/>
            <a:ext cx="3858768" cy="260604"/>
          </a:xfrm>
          <a:prstGeom prst="rect">
            <a:avLst/>
          </a:prstGeom>
          <a:solidFill>
            <a:srgbClr val="C8E2E8"/>
          </a:solidFill>
          <a:ln w="12700">
            <a:solidFill>
              <a:srgbClr val="C8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6304" y="3035808"/>
            <a:ext cx="3858768" cy="260604"/>
          </a:xfrm>
          <a:prstGeom prst="rect">
            <a:avLst/>
          </a:prstGeom>
          <a:solidFill>
            <a:srgbClr val="C8E2E8"/>
          </a:solidFill>
          <a:ln w="12700">
            <a:solidFill>
              <a:srgbClr val="C8E2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6304" y="3557016"/>
            <a:ext cx="3858768" cy="260604"/>
          </a:xfrm>
          <a:prstGeom prst="rect">
            <a:avLst/>
          </a:prstGeom>
          <a:solidFill>
            <a:srgbClr val="C8E2E8"/>
          </a:solidFill>
          <a:ln w="12700">
            <a:solidFill>
              <a:srgbClr val="C8E2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6304" y="4078224"/>
            <a:ext cx="3858768" cy="260604"/>
          </a:xfrm>
          <a:prstGeom prst="rect">
            <a:avLst/>
          </a:prstGeom>
          <a:solidFill>
            <a:srgbClr val="C8E2E8"/>
          </a:solidFill>
          <a:ln w="12700">
            <a:solidFill>
              <a:srgbClr val="C8E2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6304" y="4599432"/>
            <a:ext cx="3858768" cy="260604"/>
          </a:xfrm>
          <a:prstGeom prst="rect">
            <a:avLst/>
          </a:prstGeom>
          <a:solidFill>
            <a:srgbClr val="C8E2E8"/>
          </a:solidFill>
          <a:ln w="12700">
            <a:solidFill>
              <a:srgbClr val="C8E2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2560320"/>
            <a:ext cx="1463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Gen4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728216" y="2578608"/>
            <a:ext cx="1874520" cy="141732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9312" y="2578608"/>
            <a:ext cx="310896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201168" y="2820924"/>
            <a:ext cx="1463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Pricing &amp; Exc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728216" y="2839212"/>
            <a:ext cx="586214" cy="141732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14430" y="2839212"/>
            <a:ext cx="623704" cy="141732"/>
          </a:xfrm>
          <a:prstGeom prst="rect">
            <a:avLst/>
          </a:prstGeom>
          <a:solidFill>
            <a:srgbClr val="52B2C4"/>
          </a:solidFill>
          <a:ln w="12700">
            <a:solidFill>
              <a:srgbClr val="52B2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38133" y="2839212"/>
            <a:ext cx="136329" cy="1417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11038" y="2839212"/>
            <a:ext cx="310896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201168" y="3081528"/>
            <a:ext cx="1463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728216" y="3099816"/>
            <a:ext cx="528274" cy="141732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56490" y="3099816"/>
            <a:ext cx="17041" cy="141732"/>
          </a:xfrm>
          <a:prstGeom prst="rect">
            <a:avLst/>
          </a:prstGeom>
          <a:solidFill>
            <a:srgbClr val="52B2C4"/>
          </a:solidFill>
          <a:ln w="12700">
            <a:solidFill>
              <a:srgbClr val="52B2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10107" y="3099816"/>
            <a:ext cx="310896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01168" y="3342132"/>
            <a:ext cx="1463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APL10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728216" y="3360420"/>
            <a:ext cx="504416" cy="141732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69208" y="3360420"/>
            <a:ext cx="310896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01168" y="3602736"/>
            <a:ext cx="1463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Maintenance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728216" y="3621024"/>
            <a:ext cx="429435" cy="141732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57651" y="3621024"/>
            <a:ext cx="30674" cy="1417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24901" y="3621024"/>
            <a:ext cx="310896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201168" y="3863340"/>
            <a:ext cx="1463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FAD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728216" y="3881628"/>
            <a:ext cx="286290" cy="141732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14506" y="3881628"/>
            <a:ext cx="337414" cy="1417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88496" y="3881628"/>
            <a:ext cx="310896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201168" y="4123944"/>
            <a:ext cx="1463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728216" y="4142232"/>
            <a:ext cx="265841" cy="141732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94057" y="4142232"/>
            <a:ext cx="119288" cy="141732"/>
          </a:xfrm>
          <a:prstGeom prst="rect">
            <a:avLst/>
          </a:prstGeom>
          <a:solidFill>
            <a:srgbClr val="52B2C4"/>
          </a:solidFill>
          <a:ln w="12700">
            <a:solidFill>
              <a:srgbClr val="52B2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13345" y="4142232"/>
            <a:ext cx="34082" cy="1417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84003" y="4142232"/>
            <a:ext cx="310896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01168" y="4384548"/>
            <a:ext cx="1463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Cash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728216" y="4402836"/>
            <a:ext cx="218126" cy="141732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46342" y="4402836"/>
            <a:ext cx="27266" cy="141732"/>
          </a:xfrm>
          <a:prstGeom prst="rect">
            <a:avLst/>
          </a:prstGeom>
          <a:solidFill>
            <a:srgbClr val="52B2C4"/>
          </a:solidFill>
          <a:ln w="12700">
            <a:solidFill>
              <a:srgbClr val="52B2C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73608" y="4402836"/>
            <a:ext cx="47715" cy="1417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57899" y="4402836"/>
            <a:ext cx="310896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201168" y="4645152"/>
            <a:ext cx="1463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Reporting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728216" y="4663440"/>
            <a:ext cx="51123" cy="141732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779339" y="4663440"/>
            <a:ext cx="221534" cy="141732"/>
          </a:xfrm>
          <a:prstGeom prst="rect">
            <a:avLst/>
          </a:prstGeom>
          <a:solidFill>
            <a:srgbClr val="52B2C4"/>
          </a:solidFill>
          <a:ln w="12700">
            <a:solidFill>
              <a:srgbClr val="52B2C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037449" y="4663440"/>
            <a:ext cx="310896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01168" y="4914900"/>
            <a:ext cx="109728" cy="100584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7472" y="4914900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1463040" y="4914900"/>
            <a:ext cx="109728" cy="100584"/>
          </a:xfrm>
          <a:prstGeom prst="rect">
            <a:avLst/>
          </a:prstGeom>
          <a:solidFill>
            <a:srgbClr val="52B2C4"/>
          </a:solidFill>
          <a:ln w="12700">
            <a:solidFill>
              <a:srgbClr val="52B2C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609344" y="4914900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2724912" y="4914900"/>
            <a:ext cx="109728" cy="10058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871216" y="4914900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46304" y="5888736"/>
            <a:ext cx="1353312" cy="182880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6304" y="58887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Clear All Backlog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572768" y="5888736"/>
            <a:ext cx="1353312" cy="182880"/>
          </a:xfrm>
          <a:prstGeom prst="rect">
            <a:avLst/>
          </a:prstGeom>
          <a:solidFill>
            <a:srgbClr val="0E7D94"/>
          </a:solidFill>
          <a:ln w="12700">
            <a:solidFill>
              <a:srgbClr val="0E7D9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72768" y="58887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Full Coverage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46304" y="6163056"/>
            <a:ext cx="3858768" cy="457200"/>
          </a:xfrm>
          <a:prstGeom prst="rect">
            <a:avLst/>
          </a:prstGeom>
          <a:solidFill>
            <a:srgbClr val="083F4D"/>
          </a:solidFill>
          <a:ln w="12700">
            <a:solidFill>
              <a:srgbClr val="083F4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7744" y="6217920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Target: Automate 389 manual TCs + clear 172 backlog items across 9 PMP applications — achieving full automated regression coverage by Q4.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151376" y="1645920"/>
            <a:ext cx="3858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CE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151376" y="1645920"/>
            <a:ext cx="45720" cy="1115568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97096" y="1645920"/>
            <a:ext cx="3813048" cy="256032"/>
          </a:xfrm>
          <a:prstGeom prst="rect">
            <a:avLst/>
          </a:prstGeom>
          <a:solidFill>
            <a:srgbClr val="C8E6EC"/>
          </a:solidFill>
          <a:ln w="12700">
            <a:solidFill>
              <a:srgbClr val="C8E6E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261104" y="168249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Integration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261104" y="1956816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automated test suites into CI/CD pipelines (Harness / applicable toolchain)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execution on every commit — failures blocked before they reach staging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gates enforce pass/fail standards at every release checkpoint</a:t>
            </a:r>
            <a:endParaRPr lang="en-US" sz="780" dirty="0"/>
          </a:p>
        </p:txBody>
      </p:sp>
      <p:sp>
        <p:nvSpPr>
          <p:cNvPr id="87" name="Shape 85"/>
          <p:cNvSpPr/>
          <p:nvPr/>
        </p:nvSpPr>
        <p:spPr>
          <a:xfrm>
            <a:off x="6592824" y="2514600"/>
            <a:ext cx="1353312" cy="182880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92824" y="251460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Roadmap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151376" y="2852928"/>
            <a:ext cx="3858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CE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51376" y="2852928"/>
            <a:ext cx="45720" cy="1115568"/>
          </a:xfrm>
          <a:prstGeom prst="rect">
            <a:avLst/>
          </a:prstGeom>
          <a:solidFill>
            <a:srgbClr val="0E7D94"/>
          </a:solidFill>
          <a:ln w="12700">
            <a:solidFill>
              <a:srgbClr val="0E7D9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97096" y="2852928"/>
            <a:ext cx="3813048" cy="256032"/>
          </a:xfrm>
          <a:prstGeom prst="rect">
            <a:avLst/>
          </a:prstGeom>
          <a:solidFill>
            <a:srgbClr val="C8E8EE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261104" y="2889504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Test Data Integration  (Terminations)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261104" y="3163824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test data lookup — a key cause of Terminations execution delays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MongoDB dedicated accounts collection as reliable, reusable test data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code churn and removes environment-specific data dependencies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6592824" y="3721608"/>
            <a:ext cx="1353312" cy="182880"/>
          </a:xfrm>
          <a:prstGeom prst="rect">
            <a:avLst/>
          </a:prstGeom>
          <a:solidFill>
            <a:srgbClr val="0E7D94"/>
          </a:solidFill>
          <a:ln w="12700">
            <a:solidFill>
              <a:srgbClr val="0E7D9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592824" y="372160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PoC &amp; Integration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151376" y="4059936"/>
            <a:ext cx="38587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0DCE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151376" y="4059936"/>
            <a:ext cx="45720" cy="877824"/>
          </a:xfrm>
          <a:prstGeom prst="rect">
            <a:avLst/>
          </a:prstGeom>
          <a:solidFill>
            <a:srgbClr val="119EBB"/>
          </a:solidFill>
          <a:ln w="12700">
            <a:solidFill>
              <a:srgbClr val="119EB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197096" y="4059936"/>
            <a:ext cx="3813048" cy="256032"/>
          </a:xfrm>
          <a:prstGeom prst="rect">
            <a:avLst/>
          </a:prstGeom>
          <a:solidFill>
            <a:srgbClr val="C2EAF2"/>
          </a:solidFill>
          <a:ln w="12700">
            <a:solidFill>
              <a:srgbClr val="C2EAF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261104" y="4096512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9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Scripts in Production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4261104" y="4370832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reuse of automation scripts as production monitoring and synthetic checks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candidates for live smoke testing — no additional scripting effort needed</a:t>
            </a: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6592824" y="4690872"/>
            <a:ext cx="1353312" cy="182880"/>
          </a:xfrm>
          <a:prstGeom prst="rect">
            <a:avLst/>
          </a:prstGeom>
          <a:solidFill>
            <a:srgbClr val="119EBB"/>
          </a:solidFill>
          <a:ln w="12700">
            <a:solidFill>
              <a:srgbClr val="119EB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92824" y="46908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Exploration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4151376" y="5029200"/>
            <a:ext cx="38587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0DCE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151376" y="5029200"/>
            <a:ext cx="45720" cy="950976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197096" y="5029200"/>
            <a:ext cx="3813048" cy="256032"/>
          </a:xfrm>
          <a:prstGeom prst="rect">
            <a:avLst/>
          </a:prstGeom>
          <a:solidFill>
            <a:srgbClr val="C8E6EC"/>
          </a:solidFill>
          <a:ln w="12700">
            <a:solidFill>
              <a:srgbClr val="C8E6E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261104" y="506577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 →  Playwright Migration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4261104" y="5340096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all Selenium Java test repos to Playwright TypeScript across PMP applications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via GitHub CoPilot — coding standards enforced automatically during conversion</a:t>
            </a:r>
            <a:endParaRPr lang="en-US" sz="780" dirty="0"/>
          </a:p>
        </p:txBody>
      </p:sp>
      <p:sp>
        <p:nvSpPr>
          <p:cNvPr id="108" name="Shape 106"/>
          <p:cNvSpPr/>
          <p:nvPr/>
        </p:nvSpPr>
        <p:spPr>
          <a:xfrm>
            <a:off x="6592824" y="5733288"/>
            <a:ext cx="1353312" cy="182880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592824" y="57332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Q2–Q4: Full Migration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151376" y="6071616"/>
            <a:ext cx="3858768" cy="91440"/>
          </a:xfrm>
          <a:prstGeom prst="rect">
            <a:avLst/>
          </a:prstGeom>
          <a:solidFill>
            <a:srgbClr val="E2F2F5"/>
          </a:solidFill>
          <a:ln w="12700">
            <a:solidFill>
              <a:srgbClr val="E2F2F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51376" y="6163056"/>
            <a:ext cx="3858768" cy="457200"/>
          </a:xfrm>
          <a:prstGeom prst="rect">
            <a:avLst/>
          </a:prstGeom>
          <a:solidFill>
            <a:srgbClr val="083F4D"/>
          </a:solidFill>
          <a:ln w="12700">
            <a:solidFill>
              <a:srgbClr val="083F4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242816" y="6208776"/>
            <a:ext cx="121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Initiatives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4242816" y="6419088"/>
            <a:ext cx="1213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 drive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5529072" y="6208776"/>
            <a:ext cx="121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529072" y="6419088"/>
            <a:ext cx="1213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lookup steps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6815328" y="6208776"/>
            <a:ext cx="121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Standard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6815328" y="6419088"/>
            <a:ext cx="1213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framework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8156448" y="1645920"/>
            <a:ext cx="3858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CE2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156448" y="1645920"/>
            <a:ext cx="45720" cy="1463040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202168" y="1645920"/>
            <a:ext cx="3813048" cy="256032"/>
          </a:xfrm>
          <a:prstGeom prst="rect">
            <a:avLst/>
          </a:prstGeom>
          <a:solidFill>
            <a:srgbClr val="C8E6EC"/>
          </a:solidFill>
          <a:ln w="12700">
            <a:solidFill>
              <a:srgbClr val="C8E6E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266176" y="168249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Test Case Generation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8266176" y="1956816"/>
            <a:ext cx="3712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JIRA API — reads requirements and acceptance criteria from active tickets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test cases: happy path, negative scenarios and edge cases automatically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complete and actively in use — cutting time-to-test on new feature delivery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AI-inferred boundary conditions close coverage gaps manual authoring commonly misses</a:t>
            </a:r>
            <a:endParaRPr lang="en-US" sz="780" dirty="0"/>
          </a:p>
        </p:txBody>
      </p:sp>
      <p:sp>
        <p:nvSpPr>
          <p:cNvPr id="123" name="Shape 121"/>
          <p:cNvSpPr/>
          <p:nvPr/>
        </p:nvSpPr>
        <p:spPr>
          <a:xfrm>
            <a:off x="10597896" y="2862072"/>
            <a:ext cx="1353312" cy="182880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597896" y="28620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LIVE — Expanding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11018520" y="1682496"/>
            <a:ext cx="932688" cy="182880"/>
          </a:xfrm>
          <a:prstGeom prst="rect">
            <a:avLst/>
          </a:prstGeom>
          <a:solidFill>
            <a:srgbClr val="1A9B5A"/>
          </a:solidFill>
          <a:ln w="12700">
            <a:solidFill>
              <a:srgbClr val="1A9B5A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1018520" y="168249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LIVE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8156448" y="3200400"/>
            <a:ext cx="3858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CE2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156448" y="3200400"/>
            <a:ext cx="45720" cy="1115568"/>
          </a:xfrm>
          <a:prstGeom prst="rect">
            <a:avLst/>
          </a:prstGeom>
          <a:solidFill>
            <a:srgbClr val="0E7D94"/>
          </a:solidFill>
          <a:ln w="12700">
            <a:solidFill>
              <a:srgbClr val="0E7D9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202168" y="3200400"/>
            <a:ext cx="3813048" cy="256032"/>
          </a:xfrm>
          <a:prstGeom prst="rect">
            <a:avLst/>
          </a:prstGeom>
          <a:solidFill>
            <a:srgbClr val="C8E8EE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266176" y="323697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Code Reviews  (GitHub CoPilot)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8266176" y="3511296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reviews automation code against Playwright and Selenium standards on every PR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anti-patterns, naming violations and coverage gaps before merge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active across all automation repos — standardising team code quality</a:t>
            </a:r>
            <a:endParaRPr lang="en-US" sz="780" dirty="0"/>
          </a:p>
        </p:txBody>
      </p:sp>
      <p:sp>
        <p:nvSpPr>
          <p:cNvPr id="132" name="Shape 130"/>
          <p:cNvSpPr/>
          <p:nvPr/>
        </p:nvSpPr>
        <p:spPr>
          <a:xfrm>
            <a:off x="10597896" y="4069080"/>
            <a:ext cx="1353312" cy="182880"/>
          </a:xfrm>
          <a:prstGeom prst="rect">
            <a:avLst/>
          </a:prstGeom>
          <a:solidFill>
            <a:srgbClr val="0E7D94"/>
          </a:solidFill>
          <a:ln w="12700">
            <a:solidFill>
              <a:srgbClr val="0E7D9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597896" y="406908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Use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11018520" y="3236976"/>
            <a:ext cx="932688" cy="182880"/>
          </a:xfrm>
          <a:prstGeom prst="rect">
            <a:avLst/>
          </a:prstGeom>
          <a:solidFill>
            <a:srgbClr val="1A9B5A"/>
          </a:solidFill>
          <a:ln w="12700">
            <a:solidFill>
              <a:srgbClr val="1A9B5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1018520" y="323697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USE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8156448" y="4407408"/>
            <a:ext cx="3858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CE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156448" y="4407408"/>
            <a:ext cx="45720" cy="1188720"/>
          </a:xfrm>
          <a:prstGeom prst="rect">
            <a:avLst/>
          </a:prstGeom>
          <a:solidFill>
            <a:srgbClr val="119EBB"/>
          </a:solidFill>
          <a:ln w="12700">
            <a:solidFill>
              <a:srgbClr val="119EB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202168" y="4407408"/>
            <a:ext cx="3813048" cy="256032"/>
          </a:xfrm>
          <a:prstGeom prst="rect">
            <a:avLst/>
          </a:prstGeom>
          <a:solidFill>
            <a:srgbClr val="C2EAF2"/>
          </a:solidFill>
          <a:ln w="12700">
            <a:solidFill>
              <a:srgbClr val="C2EAF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266176" y="4443984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9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Conversion  (Selenium  →  Playwright)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8266176" y="4718304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converts Selenium Java repos to Playwright TypeScript automatically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PMP coding standards during conversion — output is review-ready, not raw draft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1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weeks of manual rewrite; engineers focus on validation and edge-case coverage</a:t>
            </a:r>
            <a:endParaRPr lang="en-US" sz="780" dirty="0"/>
          </a:p>
        </p:txBody>
      </p:sp>
      <p:sp>
        <p:nvSpPr>
          <p:cNvPr id="141" name="Shape 139"/>
          <p:cNvSpPr/>
          <p:nvPr/>
        </p:nvSpPr>
        <p:spPr>
          <a:xfrm>
            <a:off x="10597896" y="5349240"/>
            <a:ext cx="1353312" cy="182880"/>
          </a:xfrm>
          <a:prstGeom prst="rect">
            <a:avLst/>
          </a:prstGeom>
          <a:solidFill>
            <a:srgbClr val="119EBB"/>
          </a:solidFill>
          <a:ln w="12700">
            <a:solidFill>
              <a:srgbClr val="119EBB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597896" y="534924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Full Rollout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11018520" y="4443984"/>
            <a:ext cx="932688" cy="182880"/>
          </a:xfrm>
          <a:prstGeom prst="rect">
            <a:avLst/>
          </a:prstGeom>
          <a:solidFill>
            <a:srgbClr val="D48A0A"/>
          </a:solidFill>
          <a:ln w="12700">
            <a:solidFill>
              <a:srgbClr val="D48A0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1018520" y="444398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8156448" y="5687568"/>
            <a:ext cx="3858768" cy="475488"/>
          </a:xfrm>
          <a:prstGeom prst="rect">
            <a:avLst/>
          </a:prstGeom>
          <a:solidFill>
            <a:srgbClr val="E2F2F5"/>
          </a:solidFill>
          <a:ln w="12700">
            <a:solidFill>
              <a:srgbClr val="E2F2F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156448" y="6163056"/>
            <a:ext cx="3858768" cy="457200"/>
          </a:xfrm>
          <a:prstGeom prst="rect">
            <a:avLst/>
          </a:prstGeom>
          <a:solidFill>
            <a:srgbClr val="083F4D"/>
          </a:solidFill>
          <a:ln w="12700">
            <a:solidFill>
              <a:srgbClr val="083F4D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8247888" y="6208776"/>
            <a:ext cx="121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JIRA-Driven</a:t>
            </a:r>
            <a:endParaRPr lang="en-US" sz="1000" dirty="0"/>
          </a:p>
        </p:txBody>
      </p:sp>
      <p:sp>
        <p:nvSpPr>
          <p:cNvPr id="148" name="Text 146"/>
          <p:cNvSpPr/>
          <p:nvPr/>
        </p:nvSpPr>
        <p:spPr>
          <a:xfrm>
            <a:off x="8247888" y="6419088"/>
            <a:ext cx="1213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test generation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9534144" y="6208776"/>
            <a:ext cx="121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000" dirty="0"/>
          </a:p>
        </p:txBody>
      </p:sp>
      <p:sp>
        <p:nvSpPr>
          <p:cNvPr id="150" name="Text 148"/>
          <p:cNvSpPr/>
          <p:nvPr/>
        </p:nvSpPr>
        <p:spPr>
          <a:xfrm>
            <a:off x="9534144" y="6419088"/>
            <a:ext cx="1213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gate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10820400" y="6208776"/>
            <a:ext cx="121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Convert</a:t>
            </a:r>
            <a:endParaRPr lang="en-US" sz="1000" dirty="0"/>
          </a:p>
        </p:txBody>
      </p:sp>
      <p:sp>
        <p:nvSpPr>
          <p:cNvPr id="152" name="Text 150"/>
          <p:cNvSpPr/>
          <p:nvPr/>
        </p:nvSpPr>
        <p:spPr>
          <a:xfrm>
            <a:off x="10820400" y="6419088"/>
            <a:ext cx="1213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Selenium→Playwright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4078224" y="713232"/>
            <a:ext cx="0" cy="5907024"/>
          </a:xfrm>
          <a:prstGeom prst="line">
            <a:avLst/>
          </a:prstGeom>
          <a:noFill/>
          <a:ln w="12700">
            <a:solidFill>
              <a:srgbClr val="A8CDD4"/>
            </a:solidFill>
            <a:prstDash val="sysDot"/>
          </a:ln>
        </p:spPr>
      </p:sp>
      <p:sp>
        <p:nvSpPr>
          <p:cNvPr id="154" name="Shape 152"/>
          <p:cNvSpPr/>
          <p:nvPr/>
        </p:nvSpPr>
        <p:spPr>
          <a:xfrm>
            <a:off x="8083296" y="713232"/>
            <a:ext cx="0" cy="5907024"/>
          </a:xfrm>
          <a:prstGeom prst="line">
            <a:avLst/>
          </a:prstGeom>
          <a:noFill/>
          <a:ln w="12700">
            <a:solidFill>
              <a:srgbClr val="A8CDD4"/>
            </a:solidFill>
            <a:prstDash val="sysDot"/>
          </a:ln>
        </p:spPr>
      </p:sp>
      <p:sp>
        <p:nvSpPr>
          <p:cNvPr id="155" name="Shape 153"/>
          <p:cNvSpPr/>
          <p:nvPr/>
        </p:nvSpPr>
        <p:spPr>
          <a:xfrm>
            <a:off x="0" y="6620256"/>
            <a:ext cx="12161520" cy="237744"/>
          </a:xfrm>
          <a:prstGeom prst="rect">
            <a:avLst/>
          </a:prstGeom>
          <a:solidFill>
            <a:srgbClr val="C8E4EA"/>
          </a:solidFill>
          <a:ln w="12700">
            <a:solidFill>
              <a:srgbClr val="C8E4E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0" y="6620256"/>
            <a:ext cx="12161520" cy="36576"/>
          </a:xfrm>
          <a:prstGeom prst="rect">
            <a:avLst/>
          </a:prstGeom>
          <a:solidFill>
            <a:srgbClr val="0B5E6E"/>
          </a:solidFill>
          <a:ln w="12700">
            <a:solidFill>
              <a:srgbClr val="0B5E6E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WIM PMP Team  |  2026 Strategic Goals  |  QA Automation &amp; AI Innovation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2026-02-25T06:50:31Z</dcterms:created>
  <dcterms:modified xsi:type="dcterms:W3CDTF">2026-02-25T06:50:31Z</dcterms:modified>
</cp:coreProperties>
</file>