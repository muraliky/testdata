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4EDF2"/>
          </a:solidFill>
          <a:ln w="12700">
            <a:solidFill>
              <a:srgbClr val="D4EDF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61520" cy="4572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WIM PMP Team  —  2026 Strategic Goals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961120" y="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E7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 |  Coverage  |  Innovation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6304" y="713232"/>
            <a:ext cx="3858768" cy="420624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" y="713232"/>
            <a:ext cx="3858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COVERAGE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" y="1133856"/>
            <a:ext cx="3858768" cy="5486400"/>
          </a:xfrm>
          <a:prstGeom prst="rect">
            <a:avLst/>
          </a:prstGeom>
          <a:solidFill>
            <a:srgbClr val="E2F2F5"/>
          </a:solidFill>
          <a:ln w="12700">
            <a:solidFill>
              <a:srgbClr val="E2F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1152144"/>
            <a:ext cx="3675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i="1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test automation across all 9 PMP applications to eliminate manual effort and release risk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4151376" y="713232"/>
            <a:ext cx="3858768" cy="420624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1376" y="713232"/>
            <a:ext cx="3858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IMPROVEMENTS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51376" y="1133856"/>
            <a:ext cx="3858768" cy="5486400"/>
          </a:xfrm>
          <a:prstGeom prst="rect">
            <a:avLst/>
          </a:prstGeom>
          <a:solidFill>
            <a:srgbClr val="E2F2F5"/>
          </a:solidFill>
          <a:ln w="12700">
            <a:solidFill>
              <a:srgbClr val="E2F2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152144"/>
            <a:ext cx="3675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i="1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Streamlining the test lifecycle — CI/CD integration, smarter test data and framework modernisation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8156448" y="713232"/>
            <a:ext cx="3858768" cy="420624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56448" y="713232"/>
            <a:ext cx="3858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6448" y="1133856"/>
            <a:ext cx="3858768" cy="5486400"/>
          </a:xfrm>
          <a:prstGeom prst="rect">
            <a:avLst/>
          </a:prstGeom>
          <a:solidFill>
            <a:srgbClr val="E2F2F5"/>
          </a:solidFill>
          <a:ln w="12700">
            <a:solidFill>
              <a:srgbClr val="E2F2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47888" y="1152144"/>
            <a:ext cx="3675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i="1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AI at every stage — test generation, autonomous code review and framework conversion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146304" y="1645920"/>
            <a:ext cx="1267968" cy="54864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" y="1682496"/>
            <a:ext cx="1267968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1,510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6304" y="1958645"/>
            <a:ext cx="1267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TCs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441704" y="1645920"/>
            <a:ext cx="1267968" cy="548640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1704" y="1682496"/>
            <a:ext cx="1267968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441704" y="1958645"/>
            <a:ext cx="1267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TCs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737104" y="1645920"/>
            <a:ext cx="1267968" cy="548640"/>
          </a:xfrm>
          <a:prstGeom prst="rect">
            <a:avLst/>
          </a:prstGeom>
          <a:solidFill>
            <a:srgbClr val="119EBB"/>
          </a:solidFill>
          <a:ln w="12700">
            <a:solidFill>
              <a:srgbClr val="119E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37104" y="1682496"/>
            <a:ext cx="1267968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737104" y="1958645"/>
            <a:ext cx="1267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Backlog→Clear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1168" y="2286000"/>
            <a:ext cx="3767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5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Per-Application Coverage Breakdown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46304" y="2514600"/>
            <a:ext cx="3858768" cy="239573"/>
          </a:xfrm>
          <a:prstGeom prst="rect">
            <a:avLst/>
          </a:prstGeom>
          <a:solidFill>
            <a:srgbClr val="C8E2E8"/>
          </a:solidFill>
          <a:ln w="12700">
            <a:solidFill>
              <a:srgbClr val="C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6304" y="2993746"/>
            <a:ext cx="3858768" cy="239573"/>
          </a:xfrm>
          <a:prstGeom prst="rect">
            <a:avLst/>
          </a:prstGeom>
          <a:solidFill>
            <a:srgbClr val="C8E2E8"/>
          </a:solidFill>
          <a:ln w="12700">
            <a:solidFill>
              <a:srgbClr val="C8E2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6304" y="3472891"/>
            <a:ext cx="3858768" cy="239573"/>
          </a:xfrm>
          <a:prstGeom prst="rect">
            <a:avLst/>
          </a:prstGeom>
          <a:solidFill>
            <a:srgbClr val="C8E2E8"/>
          </a:solidFill>
          <a:ln w="12700">
            <a:solidFill>
              <a:srgbClr val="C8E2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6304" y="3952037"/>
            <a:ext cx="3858768" cy="239573"/>
          </a:xfrm>
          <a:prstGeom prst="rect">
            <a:avLst/>
          </a:prstGeom>
          <a:solidFill>
            <a:srgbClr val="C8E2E8"/>
          </a:solidFill>
          <a:ln w="12700">
            <a:solidFill>
              <a:srgbClr val="C8E2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6304" y="4431182"/>
            <a:ext cx="3858768" cy="239573"/>
          </a:xfrm>
          <a:prstGeom prst="rect">
            <a:avLst/>
          </a:prstGeom>
          <a:solidFill>
            <a:srgbClr val="C8E2E8"/>
          </a:solidFill>
          <a:ln w="12700">
            <a:solidFill>
              <a:srgbClr val="C8E2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1168" y="2560320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RPM Gen 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728216" y="2578608"/>
            <a:ext cx="1874520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39312" y="2578608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01168" y="2799893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Pricing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728216" y="2818181"/>
            <a:ext cx="586214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14430" y="2818181"/>
            <a:ext cx="623704" cy="120701"/>
          </a:xfrm>
          <a:prstGeom prst="rect">
            <a:avLst/>
          </a:prstGeom>
          <a:solidFill>
            <a:srgbClr val="52B2C4"/>
          </a:solidFill>
          <a:ln w="12700">
            <a:solidFill>
              <a:srgbClr val="52B2C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38133" y="2818181"/>
            <a:ext cx="136329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11038" y="2818181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201168" y="3039466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ACC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28216" y="3057754"/>
            <a:ext cx="579397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07613" y="3057754"/>
            <a:ext cx="238575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82764" y="3057754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01168" y="3279038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 10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28216" y="3297326"/>
            <a:ext cx="504416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69208" y="3297326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01168" y="3518611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Maintenance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728216" y="3536899"/>
            <a:ext cx="439660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67876" y="3536899"/>
            <a:ext cx="30674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235126" y="3536899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01168" y="3758184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RPM FAD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1728216" y="3776472"/>
            <a:ext cx="286290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14506" y="3776472"/>
            <a:ext cx="337414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388496" y="3776472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01168" y="3997757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728216" y="4016045"/>
            <a:ext cx="265841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994057" y="4016045"/>
            <a:ext cx="119288" cy="120701"/>
          </a:xfrm>
          <a:prstGeom prst="rect">
            <a:avLst/>
          </a:prstGeom>
          <a:solidFill>
            <a:srgbClr val="52B2C4"/>
          </a:solidFill>
          <a:ln w="12700">
            <a:solidFill>
              <a:srgbClr val="52B2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113345" y="4016045"/>
            <a:ext cx="34082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184003" y="4016045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01168" y="4237330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Cash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728216" y="4255618"/>
            <a:ext cx="218126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946342" y="4255618"/>
            <a:ext cx="27266" cy="120701"/>
          </a:xfrm>
          <a:prstGeom prst="rect">
            <a:avLst/>
          </a:prstGeom>
          <a:solidFill>
            <a:srgbClr val="52B2C4"/>
          </a:solidFill>
          <a:ln w="12700">
            <a:solidFill>
              <a:srgbClr val="52B2C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973608" y="4255618"/>
            <a:ext cx="47715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057899" y="4255618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201168" y="4476902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Desktop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728216" y="4495190"/>
            <a:ext cx="340822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105614" y="4495190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01168" y="4716475"/>
            <a:ext cx="146304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Getway Apps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1728216" y="4734763"/>
            <a:ext cx="51123" cy="120701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79339" y="4734763"/>
            <a:ext cx="68164" cy="120701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884080" y="4734763"/>
            <a:ext cx="31089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201168" y="4965192"/>
            <a:ext cx="109728" cy="100584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7472" y="496519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463040" y="4965192"/>
            <a:ext cx="109728" cy="100584"/>
          </a:xfrm>
          <a:prstGeom prst="rect">
            <a:avLst/>
          </a:prstGeom>
          <a:solidFill>
            <a:srgbClr val="52B2C4"/>
          </a:solidFill>
          <a:ln w="12700">
            <a:solidFill>
              <a:srgbClr val="52B2C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09344" y="496519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724912" y="4965192"/>
            <a:ext cx="109728" cy="100584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871216" y="4965192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146304" y="5888736"/>
            <a:ext cx="1353312" cy="18288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46304" y="588873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Clear All Backlog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1572768" y="5888736"/>
            <a:ext cx="1353312" cy="182880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572768" y="588873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Full Coverage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146304" y="6163056"/>
            <a:ext cx="3858768" cy="457200"/>
          </a:xfrm>
          <a:prstGeom prst="rect">
            <a:avLst/>
          </a:prstGeom>
          <a:solidFill>
            <a:srgbClr val="083F4D"/>
          </a:solidFill>
          <a:ln w="12700">
            <a:solidFill>
              <a:srgbClr val="083F4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37744" y="621792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Target: Clear 262 backlog TCs + automate 226 manual TCs across 10 PMP applications — achieving full automated regression coverage by Q4.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151376" y="1645920"/>
            <a:ext cx="3858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151376" y="1645920"/>
            <a:ext cx="45720" cy="1115568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197096" y="1645920"/>
            <a:ext cx="3813048" cy="256032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261104" y="168249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Integration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261104" y="1938528"/>
            <a:ext cx="37124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automated test suites into CI/CD pipelines (Harness / applicable toolchain)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execution on every commit — failures blocked before they reach staging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quality gates enforce pass/fail standards at every release checkpoint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6592824" y="2514600"/>
            <a:ext cx="1353312" cy="18288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92824" y="251460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Roadmap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151376" y="2852928"/>
            <a:ext cx="3858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151376" y="2852928"/>
            <a:ext cx="45720" cy="1115568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197096" y="2852928"/>
            <a:ext cx="3813048" cy="256032"/>
          </a:xfrm>
          <a:prstGeom prst="rect">
            <a:avLst/>
          </a:prstGeom>
          <a:solidFill>
            <a:srgbClr val="C8E8EE"/>
          </a:solidFill>
          <a:ln w="12700">
            <a:solidFill>
              <a:srgbClr val="C8E8EE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261104" y="2889504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Test Data Integration  (Terminations)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4261104" y="3145536"/>
            <a:ext cx="37124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manual test data lookup — a key cause of Terminations execution delays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MongoDB dedicated accounts collection as reliable, reusable test data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code churn and removes environment-specific data dependencies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6592824" y="3721608"/>
            <a:ext cx="1353312" cy="182880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592824" y="372160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PoC &amp; Integration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4151376" y="4059936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151376" y="4059936"/>
            <a:ext cx="45720" cy="1005840"/>
          </a:xfrm>
          <a:prstGeom prst="rect">
            <a:avLst/>
          </a:prstGeom>
          <a:solidFill>
            <a:srgbClr val="119EBB"/>
          </a:solidFill>
          <a:ln w="12700">
            <a:solidFill>
              <a:srgbClr val="119EB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197096" y="4059936"/>
            <a:ext cx="3813048" cy="256032"/>
          </a:xfrm>
          <a:prstGeom prst="rect">
            <a:avLst/>
          </a:prstGeom>
          <a:solidFill>
            <a:srgbClr val="C2EAF2"/>
          </a:solidFill>
          <a:ln w="12700">
            <a:solidFill>
              <a:srgbClr val="C2EAF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261104" y="4096512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9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Scripts in Production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4261104" y="4352544"/>
            <a:ext cx="3712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reuse of automation scripts as production monitoring and synthetic checks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Desktop smoke tests identified as first candidate for live production execution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6592824" y="4818888"/>
            <a:ext cx="1353312" cy="182880"/>
          </a:xfrm>
          <a:prstGeom prst="rect">
            <a:avLst/>
          </a:prstGeom>
          <a:solidFill>
            <a:srgbClr val="119EBB"/>
          </a:solidFill>
          <a:ln w="12700">
            <a:solidFill>
              <a:srgbClr val="119EB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92824" y="48188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Exploration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151376" y="5157216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151376" y="5157216"/>
            <a:ext cx="45720" cy="100584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197096" y="5157216"/>
            <a:ext cx="3813048" cy="256032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61104" y="5193792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Octane Integration of Automation Scripts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4261104" y="5449824"/>
            <a:ext cx="3712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all automated test suites with Octane to enable centralised test management and reporting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automation execution results directly with Octane test plans for full traceability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6592824" y="5916168"/>
            <a:ext cx="1353312" cy="18288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592824" y="591616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Target Completion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151376" y="6163056"/>
            <a:ext cx="3858768" cy="457200"/>
          </a:xfrm>
          <a:prstGeom prst="rect">
            <a:avLst/>
          </a:prstGeom>
          <a:solidFill>
            <a:srgbClr val="083F4D"/>
          </a:solidFill>
          <a:ln w="12700">
            <a:solidFill>
              <a:srgbClr val="083F4D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42816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Initiatives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242816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Modernisation drive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529072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Manual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529072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lookup steps</a:t>
            </a: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6815328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Target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815328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Octane integration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8156448" y="1645920"/>
            <a:ext cx="3858768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56448" y="1645920"/>
            <a:ext cx="45720" cy="1536192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202168" y="1645920"/>
            <a:ext cx="3813048" cy="256032"/>
          </a:xfrm>
          <a:prstGeom prst="rect">
            <a:avLst/>
          </a:prstGeom>
          <a:solidFill>
            <a:srgbClr val="C8E6EC"/>
          </a:solidFill>
          <a:ln w="12700">
            <a:solidFill>
              <a:srgbClr val="C8E6E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66176" y="1682496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Test Case Generation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8266176" y="1938528"/>
            <a:ext cx="3712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JIRA API — reads requirements and acceptance criteria from active tickets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 cases: happy path, negative scenarios and edge cases automatically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complete and actively in use — cutting time-to-test on new feature delivery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AI-inferred boundary conditions close coverage gaps manual authoring commonly misses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10597896" y="2935224"/>
            <a:ext cx="1353312" cy="182880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597896" y="293522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LIVE — Expanding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1018520" y="1682496"/>
            <a:ext cx="932688" cy="182880"/>
          </a:xfrm>
          <a:prstGeom prst="rect">
            <a:avLst/>
          </a:prstGeom>
          <a:solidFill>
            <a:srgbClr val="1A9B5A"/>
          </a:solidFill>
          <a:ln w="12700">
            <a:solidFill>
              <a:srgbClr val="1A9B5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1018520" y="168249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LIVE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8156448" y="3273552"/>
            <a:ext cx="385876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56448" y="3273552"/>
            <a:ext cx="45720" cy="1188720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202168" y="3273552"/>
            <a:ext cx="3813048" cy="256032"/>
          </a:xfrm>
          <a:prstGeom prst="rect">
            <a:avLst/>
          </a:prstGeom>
          <a:solidFill>
            <a:srgbClr val="C8E8EE"/>
          </a:solidFill>
          <a:ln w="12700">
            <a:solidFill>
              <a:srgbClr val="C8E8E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266176" y="3310128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D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Reviews  (GitHub CoPilot)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8266176" y="3566160"/>
            <a:ext cx="3712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reviews automation code against Playwright and Selenium standards on every PR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anti-patterns, naming violations and coverage gaps before merge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active across all automation repos — standardising team code quality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10597896" y="4215384"/>
            <a:ext cx="1353312" cy="182880"/>
          </a:xfrm>
          <a:prstGeom prst="rect">
            <a:avLst/>
          </a:prstGeom>
          <a:solidFill>
            <a:srgbClr val="0E7D94"/>
          </a:solidFill>
          <a:ln w="12700">
            <a:solidFill>
              <a:srgbClr val="0E7D9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597896" y="42153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In Use</a:t>
            </a:r>
            <a:endParaRPr lang="en-US" sz="750" dirty="0"/>
          </a:p>
        </p:txBody>
      </p:sp>
      <p:sp>
        <p:nvSpPr>
          <p:cNvPr id="136" name="Shape 134"/>
          <p:cNvSpPr/>
          <p:nvPr/>
        </p:nvSpPr>
        <p:spPr>
          <a:xfrm>
            <a:off x="11018520" y="3310128"/>
            <a:ext cx="932688" cy="182880"/>
          </a:xfrm>
          <a:prstGeom prst="rect">
            <a:avLst/>
          </a:prstGeom>
          <a:solidFill>
            <a:srgbClr val="1A9B5A"/>
          </a:solidFill>
          <a:ln w="12700">
            <a:solidFill>
              <a:srgbClr val="1A9B5A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018520" y="331012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USE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156448" y="4553712"/>
            <a:ext cx="385876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CE2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156448" y="4553712"/>
            <a:ext cx="45720" cy="1188720"/>
          </a:xfrm>
          <a:prstGeom prst="rect">
            <a:avLst/>
          </a:prstGeom>
          <a:solidFill>
            <a:srgbClr val="119EBB"/>
          </a:solidFill>
          <a:ln w="12700">
            <a:solidFill>
              <a:srgbClr val="119EBB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8202168" y="4553712"/>
            <a:ext cx="3813048" cy="256032"/>
          </a:xfrm>
          <a:prstGeom prst="rect">
            <a:avLst/>
          </a:prstGeom>
          <a:solidFill>
            <a:srgbClr val="C2EAF2"/>
          </a:solidFill>
          <a:ln w="12700">
            <a:solidFill>
              <a:srgbClr val="C2EAF2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66176" y="4590288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9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Code Conversion  (Selenium  →  Playwright)</a:t>
            </a:r>
            <a:endParaRPr lang="en-US" sz="900" dirty="0"/>
          </a:p>
        </p:txBody>
      </p:sp>
      <p:sp>
        <p:nvSpPr>
          <p:cNvPr id="142" name="Text 140"/>
          <p:cNvSpPr/>
          <p:nvPr/>
        </p:nvSpPr>
        <p:spPr>
          <a:xfrm>
            <a:off x="8266176" y="4846320"/>
            <a:ext cx="3712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converts Selenium Java repos to Playwright TypeScript automatically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PMP coding standards during conversion — output is review-ready, not raw draft</a:t>
            </a:r>
            <a:endParaRPr lang="en-US" sz="7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50" dirty="0">
                <a:solidFill>
                  <a:srgbClr val="1A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~65% of manual migration effort — engineers focus purely on validation and review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10597896" y="5495544"/>
            <a:ext cx="1353312" cy="182880"/>
          </a:xfrm>
          <a:prstGeom prst="rect">
            <a:avLst/>
          </a:prstGeom>
          <a:solidFill>
            <a:srgbClr val="119EBB"/>
          </a:solidFill>
          <a:ln w="12700">
            <a:solidFill>
              <a:srgbClr val="119EBB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0597896" y="549554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Full Rollout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11018520" y="4590288"/>
            <a:ext cx="932688" cy="182880"/>
          </a:xfrm>
          <a:prstGeom prst="rect">
            <a:avLst/>
          </a:prstGeom>
          <a:solidFill>
            <a:srgbClr val="D48A0A"/>
          </a:solidFill>
          <a:ln w="12700">
            <a:solidFill>
              <a:srgbClr val="D48A0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1018520" y="459028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8156448" y="5833872"/>
            <a:ext cx="3858768" cy="329184"/>
          </a:xfrm>
          <a:prstGeom prst="rect">
            <a:avLst/>
          </a:prstGeom>
          <a:solidFill>
            <a:srgbClr val="E2F2F5"/>
          </a:solidFill>
          <a:ln w="12700">
            <a:solidFill>
              <a:srgbClr val="E2F2F5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156448" y="6163056"/>
            <a:ext cx="3858768" cy="457200"/>
          </a:xfrm>
          <a:prstGeom prst="rect">
            <a:avLst/>
          </a:prstGeom>
          <a:solidFill>
            <a:srgbClr val="083F4D"/>
          </a:solidFill>
          <a:ln w="12700">
            <a:solidFill>
              <a:srgbClr val="083F4D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8247888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JIRA-Driven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8247888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test generation</a:t>
            </a:r>
            <a:endParaRPr lang="en-US" sz="700" dirty="0"/>
          </a:p>
        </p:txBody>
      </p:sp>
      <p:sp>
        <p:nvSpPr>
          <p:cNvPr id="151" name="Text 149"/>
          <p:cNvSpPr/>
          <p:nvPr/>
        </p:nvSpPr>
        <p:spPr>
          <a:xfrm>
            <a:off x="9534144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000" dirty="0"/>
          </a:p>
        </p:txBody>
      </p:sp>
      <p:sp>
        <p:nvSpPr>
          <p:cNvPr id="152" name="Text 150"/>
          <p:cNvSpPr/>
          <p:nvPr/>
        </p:nvSpPr>
        <p:spPr>
          <a:xfrm>
            <a:off x="9534144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gate</a:t>
            </a:r>
            <a:endParaRPr lang="en-US" sz="700" dirty="0"/>
          </a:p>
        </p:txBody>
      </p:sp>
      <p:sp>
        <p:nvSpPr>
          <p:cNvPr id="153" name="Text 151"/>
          <p:cNvSpPr/>
          <p:nvPr/>
        </p:nvSpPr>
        <p:spPr>
          <a:xfrm>
            <a:off x="10820400" y="6208776"/>
            <a:ext cx="1213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0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Saved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10820400" y="6419088"/>
            <a:ext cx="1213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time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4078224" y="713232"/>
            <a:ext cx="0" cy="5907024"/>
          </a:xfrm>
          <a:prstGeom prst="line">
            <a:avLst/>
          </a:prstGeom>
          <a:noFill/>
          <a:ln w="12700">
            <a:solidFill>
              <a:srgbClr val="A8CDD4"/>
            </a:solidFill>
            <a:prstDash val="sysDot"/>
          </a:ln>
        </p:spPr>
      </p:sp>
      <p:sp>
        <p:nvSpPr>
          <p:cNvPr id="156" name="Shape 154"/>
          <p:cNvSpPr/>
          <p:nvPr/>
        </p:nvSpPr>
        <p:spPr>
          <a:xfrm>
            <a:off x="8083296" y="713232"/>
            <a:ext cx="0" cy="5907024"/>
          </a:xfrm>
          <a:prstGeom prst="line">
            <a:avLst/>
          </a:prstGeom>
          <a:noFill/>
          <a:ln w="12700">
            <a:solidFill>
              <a:srgbClr val="A8CDD4"/>
            </a:solidFill>
            <a:prstDash val="sysDot"/>
          </a:ln>
        </p:spPr>
      </p:sp>
      <p:sp>
        <p:nvSpPr>
          <p:cNvPr id="157" name="Shape 155"/>
          <p:cNvSpPr/>
          <p:nvPr/>
        </p:nvSpPr>
        <p:spPr>
          <a:xfrm>
            <a:off x="0" y="6620256"/>
            <a:ext cx="12161520" cy="237744"/>
          </a:xfrm>
          <a:prstGeom prst="rect">
            <a:avLst/>
          </a:prstGeom>
          <a:solidFill>
            <a:srgbClr val="C8E4EA"/>
          </a:solidFill>
          <a:ln w="12700">
            <a:solidFill>
              <a:srgbClr val="C8E4E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0" y="6620256"/>
            <a:ext cx="12161520" cy="36576"/>
          </a:xfrm>
          <a:prstGeom prst="rect">
            <a:avLst/>
          </a:prstGeom>
          <a:solidFill>
            <a:srgbClr val="0B5E6E"/>
          </a:solidFill>
          <a:ln w="12700">
            <a:solidFill>
              <a:srgbClr val="0B5E6E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0" y="6656832"/>
            <a:ext cx="1216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WIM PMP Team  |  2026 Strategic Goals  |  QA Automation &amp; AI Innovation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2026-02-26T05:44:01Z</dcterms:created>
  <dcterms:modified xsi:type="dcterms:W3CDTF">2026-02-26T05:44:01Z</dcterms:modified>
</cp:coreProperties>
</file>